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72" r:id="rId8"/>
    <p:sldId id="262" r:id="rId9"/>
    <p:sldId id="263" r:id="rId10"/>
    <p:sldId id="264" r:id="rId11"/>
    <p:sldId id="266" r:id="rId12"/>
    <p:sldId id="269" r:id="rId13"/>
    <p:sldId id="267" r:id="rId14"/>
    <p:sldId id="268" r:id="rId15"/>
    <p:sldId id="271" r:id="rId16"/>
    <p:sldId id="273" r:id="rId17"/>
    <p:sldId id="274" r:id="rId18"/>
    <p:sldId id="275" r:id="rId19"/>
    <p:sldId id="276" r:id="rId20"/>
    <p:sldId id="277" r:id="rId21"/>
    <p:sldId id="278" r:id="rId22"/>
    <p:sldId id="270" r:id="rId23"/>
    <p:sldId id="265" r:id="rId24"/>
  </p:sldIdLst>
  <p:sldSz cx="18288000" cy="10287000"/>
  <p:notesSz cx="6858000" cy="9144000"/>
  <p:embeddedFontLst>
    <p:embeddedFont>
      <p:font typeface="Gotham Bold Italics" panose="020B0604020202020204" charset="0"/>
      <p:regular r:id="rId26"/>
    </p:embeddedFont>
    <p:embeddedFont>
      <p:font typeface="Gotham" panose="020B0604020202020204" charset="0"/>
      <p:regular r:id="rId27"/>
    </p:embeddedFont>
    <p:embeddedFont>
      <p:font typeface="Cambria" panose="02040503050406030204" pitchFamily="18" charset="0"/>
      <p:regular r:id="rId28"/>
      <p:bold r:id="rId29"/>
      <p:italic r:id="rId30"/>
      <p:boldItalic r:id="rId31"/>
    </p:embeddedFont>
    <p:embeddedFont>
      <p:font typeface="Calibri" panose="020F0502020204030204" pitchFamily="34" charset="0"/>
      <p:regular r:id="rId32"/>
      <p:bold r:id="rId33"/>
      <p:italic r:id="rId34"/>
      <p:boldItalic r:id="rId35"/>
    </p:embeddedFont>
    <p:embeddedFont>
      <p:font typeface="Bookman Old Style" panose="02050604050505020204" pitchFamily="18" charset="0"/>
      <p:regular r:id="rId36"/>
      <p:bold r:id="rId37"/>
      <p:italic r:id="rId38"/>
      <p:bold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0CE19B-0509-423C-8C88-78F33F6BCEBF}" type="datetimeFigureOut">
              <a:rPr lang="en-IN" smtClean="0"/>
              <a:t>06-05-2026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4F3590-3C79-4786-BAC2-527A13B09E35}" type="slidenum">
              <a:rPr lang="en-IN" smtClean="0"/>
              <a:t>‹#›</a:t>
            </a:fld>
            <a:endParaRPr lang="en-IN"/>
          </a:p>
        </p:txBody>
      </p:sp>
    </p:spTree>
    <p:extLst>
      <p:ext uri="{BB962C8B-B14F-4D97-AF65-F5344CB8AC3E}">
        <p14:creationId xmlns:p14="http://schemas.microsoft.com/office/powerpoint/2010/main" val="1558710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B4F3590-3C79-4786-BAC2-527A13B09E35}" type="slidenum">
              <a:rPr lang="en-IN" smtClean="0"/>
              <a:t>6</a:t>
            </a:fld>
            <a:endParaRPr lang="en-IN"/>
          </a:p>
        </p:txBody>
      </p:sp>
    </p:spTree>
    <p:extLst>
      <p:ext uri="{BB962C8B-B14F-4D97-AF65-F5344CB8AC3E}">
        <p14:creationId xmlns:p14="http://schemas.microsoft.com/office/powerpoint/2010/main" val="29088262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692835" y="5901109"/>
            <a:ext cx="15784162" cy="846386"/>
          </a:xfrm>
          <a:prstGeom prst="rect">
            <a:avLst/>
          </a:prstGeom>
          <a:noFill/>
        </p:spPr>
        <p:txBody>
          <a:bodyPr wrap="square" rtlCol="0">
            <a:spAutoFit/>
          </a:bodyPr>
          <a:lstStyle/>
          <a:p>
            <a:pPr algn="ctr"/>
            <a:r>
              <a:rPr lang="en-IN" sz="4900" dirty="0">
                <a:solidFill>
                  <a:srgbClr val="0033CC"/>
                </a:solidFill>
                <a:latin typeface="Times New Roman" panose="02020603050405020304" pitchFamily="18" charset="0"/>
                <a:cs typeface="Times New Roman" panose="02020603050405020304" pitchFamily="18" charset="0"/>
              </a:rPr>
              <a:t>Smart Campus Event Management System</a:t>
            </a: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47732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smtClean="0">
                <a:latin typeface="Cambria" panose="02040503050406030204" pitchFamily="18" charset="0"/>
                <a:ea typeface="Cambria" panose="02040503050406030204" pitchFamily="18" charset="0"/>
              </a:rPr>
              <a:t>D.Anusha</a:t>
            </a:r>
            <a:r>
              <a:rPr lang="en-US" sz="3000" dirty="0" smtClean="0">
                <a:latin typeface="Cambria" panose="02040503050406030204" pitchFamily="18" charset="0"/>
                <a:ea typeface="Cambria" panose="02040503050406030204" pitchFamily="18" charset="0"/>
              </a:rPr>
              <a:t> </a:t>
            </a:r>
            <a:r>
              <a:rPr lang="en-US" sz="3000" dirty="0">
                <a:latin typeface="Cambria" panose="02040503050406030204" pitchFamily="18" charset="0"/>
                <a:ea typeface="Cambria" panose="02040503050406030204" pitchFamily="18" charset="0"/>
              </a:rPr>
              <a:t>– </a:t>
            </a:r>
            <a:r>
              <a:rPr lang="en-US" sz="3000" dirty="0" smtClean="0">
                <a:latin typeface="Cambria" panose="02040503050406030204" pitchFamily="18" charset="0"/>
                <a:ea typeface="Cambria" panose="02040503050406030204" pitchFamily="18" charset="0"/>
              </a:rPr>
              <a:t>VTU26642 </a:t>
            </a:r>
            <a:r>
              <a:rPr lang="en-US" sz="3000" dirty="0">
                <a:latin typeface="Cambria" panose="02040503050406030204" pitchFamily="18" charset="0"/>
                <a:ea typeface="Cambria" panose="02040503050406030204" pitchFamily="18" charset="0"/>
              </a:rPr>
              <a:t>– </a:t>
            </a:r>
            <a:r>
              <a:rPr lang="en-US" sz="3000" dirty="0" smtClean="0">
                <a:latin typeface="Cambria" panose="02040503050406030204" pitchFamily="18" charset="0"/>
                <a:ea typeface="Cambria" panose="02040503050406030204" pitchFamily="18" charset="0"/>
              </a:rPr>
              <a:t>23UECS0137</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216982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Times New Roman" panose="02020603050405020304" pitchFamily="18" charset="0"/>
                <a:ea typeface="Cambria" panose="02040503050406030204" pitchFamily="18" charset="0"/>
                <a:cs typeface="Times New Roman" panose="02020603050405020304" pitchFamily="18" charset="0"/>
              </a:rPr>
              <a:t>    </a:t>
            </a:r>
            <a:r>
              <a:rPr lang="en-US" sz="3000" dirty="0" err="1" smtClean="0">
                <a:latin typeface="Times New Roman" panose="02020603050405020304" pitchFamily="18" charset="0"/>
                <a:ea typeface="Cambria" panose="02040503050406030204" pitchFamily="18" charset="0"/>
                <a:cs typeface="Times New Roman" panose="02020603050405020304" pitchFamily="18" charset="0"/>
              </a:rPr>
              <a:t>Dr.Hafizur</a:t>
            </a:r>
            <a:r>
              <a:rPr lang="en-US" sz="3000" dirty="0" smtClean="0">
                <a:latin typeface="Times New Roman" panose="02020603050405020304" pitchFamily="18" charset="0"/>
                <a:ea typeface="Cambria" panose="02040503050406030204" pitchFamily="18" charset="0"/>
                <a:cs typeface="Times New Roman" panose="02020603050405020304" pitchFamily="18" charset="0"/>
              </a:rPr>
              <a:t> Rahman,</a:t>
            </a:r>
            <a:endParaRPr lang="en-IN" sz="3000" dirty="0">
              <a:latin typeface="Times New Roman" panose="02020603050405020304" pitchFamily="18" charset="0"/>
              <a:cs typeface="Times New Roman" panose="02020603050405020304" pitchFamily="18" charset="0"/>
            </a:endParaRPr>
          </a:p>
          <a:p>
            <a:pPr>
              <a:lnSpc>
                <a:spcPct val="150000"/>
              </a:lnSpc>
            </a:pPr>
            <a:r>
              <a:rPr lang="en-US" sz="3000" dirty="0">
                <a:latin typeface="Cambria" panose="02040503050406030204" pitchFamily="18" charset="0"/>
                <a:ea typeface="Cambria" panose="02040503050406030204" pitchFamily="18" charset="0"/>
              </a:rPr>
              <a:t>     Assistant </a:t>
            </a:r>
            <a:r>
              <a:rPr lang="en-IN" sz="3000" dirty="0">
                <a:latin typeface="Cambria" panose="02040503050406030204" pitchFamily="18" charset="0"/>
                <a:ea typeface="Cambria" panose="02040503050406030204" pitchFamily="18" charset="0"/>
              </a:rPr>
              <a:t>Professor</a:t>
            </a:r>
          </a:p>
        </p:txBody>
      </p:sp>
      <p:sp>
        <p:nvSpPr>
          <p:cNvPr id="16" name="TextBox 15">
            <a:extLst>
              <a:ext uri="{FF2B5EF4-FFF2-40B4-BE49-F238E27FC236}">
                <a16:creationId xmlns:a16="http://schemas.microsoft.com/office/drawing/2014/main" id="{A7AA51DE-E8D7-A1B4-BC0D-B25C8A0C467A}"/>
              </a:ext>
            </a:extLst>
          </p:cNvPr>
          <p:cNvSpPr txBox="1"/>
          <p:nvPr/>
        </p:nvSpPr>
        <p:spPr>
          <a:xfrm>
            <a:off x="2182368" y="6972300"/>
            <a:ext cx="10583015" cy="1077218"/>
          </a:xfrm>
          <a:prstGeom prst="rect">
            <a:avLst/>
          </a:prstGeom>
          <a:noFill/>
        </p:spPr>
        <p:txBody>
          <a:bodyPr wrap="square" rtlCol="0">
            <a:spAutoFit/>
          </a:bodyPr>
          <a:lstStyle/>
          <a:p>
            <a:r>
              <a:rPr lang="en-US" sz="3500" b="1" dirty="0">
                <a:latin typeface="Times New Roman" panose="02020603050405020304" pitchFamily="18" charset="0"/>
                <a:ea typeface="Cambria" panose="02040503050406030204" pitchFamily="18" charset="0"/>
                <a:cs typeface="Times New Roman" panose="02020603050405020304" pitchFamily="18" charset="0"/>
              </a:rPr>
              <a:t>SDG: 9 </a:t>
            </a:r>
            <a:r>
              <a:rPr lang="en-US" sz="2400" b="1" dirty="0">
                <a:latin typeface="Times New Roman" panose="02020603050405020304" pitchFamily="18" charset="0"/>
                <a:ea typeface="Cambria" panose="02040503050406030204" pitchFamily="18" charset="0"/>
                <a:cs typeface="Times New Roman" panose="02020603050405020304" pitchFamily="18" charset="0"/>
              </a:rPr>
              <a:t>– </a:t>
            </a:r>
            <a:r>
              <a:rPr lang="en-IN" sz="3500" dirty="0">
                <a:latin typeface="Times New Roman" panose="02020603050405020304" pitchFamily="18" charset="0"/>
                <a:cs typeface="Times New Roman" panose="02020603050405020304" pitchFamily="18" charset="0"/>
              </a:rPr>
              <a:t>Industry, Innovation and Infrastructure</a:t>
            </a:r>
          </a:p>
          <a:p>
            <a:endParaRPr lang="en-IN" sz="29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968508" y="2640930"/>
            <a:ext cx="15082325" cy="569386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Rectangle 2">
            <a:extLst>
              <a:ext uri="{FF2B5EF4-FFF2-40B4-BE49-F238E27FC236}">
                <a16:creationId xmlns:a16="http://schemas.microsoft.com/office/drawing/2014/main" id="{C11E50AE-AA25-88F0-4C3A-8859C8714D38}"/>
              </a:ext>
            </a:extLst>
          </p:cNvPr>
          <p:cNvSpPr>
            <a:spLocks noChangeArrowheads="1"/>
          </p:cNvSpPr>
          <p:nvPr/>
        </p:nvSpPr>
        <p:spPr bwMode="auto">
          <a:xfrm>
            <a:off x="2587517" y="2205794"/>
            <a:ext cx="15082324"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Traditional campus event management is mostly manual and inefficient.</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It leads to difficulties in registration, tracking, and communication.</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This project aims to provide a centralized digital solution.</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It simplifies event browsing, registration, and management.</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The system improves student participation and engagement.</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It ensures secure access and accurate data handling.</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The application uses modern web technologies for better performance.</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Overall, it provides an efficient and user-friendly event management platform.</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3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E90813A0-10B3-E070-4103-8363D84674E1}"/>
              </a:ext>
            </a:extLst>
          </p:cNvPr>
          <p:cNvSpPr>
            <a:spLocks noChangeArrowheads="1"/>
          </p:cNvSpPr>
          <p:nvPr/>
        </p:nvSpPr>
        <p:spPr bwMode="auto">
          <a:xfrm>
            <a:off x="2406549" y="2502194"/>
            <a:ext cx="15079051"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Existing campus event management systems rely heavily on manual processes.</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This leads to inefficiency in handling registrations and event coordination.</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There is no centralized platform to manage all events effectively.</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Tracking participant details and event data becomes difficult.</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Manual systems increase the chances of errors and data loss.</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Communication between students and organizers is often limited.</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There is a need for a secure and automated system.</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The proposed solution aims to improve efficiency, accuracy, and accessibility.</a:t>
            </a:r>
            <a:br>
              <a:rPr lang="en-US" sz="3500" dirty="0">
                <a:latin typeface="Times New Roman" panose="02020603050405020304" pitchFamily="18" charset="0"/>
                <a:cs typeface="Times New Roman" panose="02020603050405020304" pitchFamily="18" charset="0"/>
              </a:rPr>
            </a:br>
            <a:endParaRPr lang="en-US" sz="3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sp>
      <p:sp>
        <p:nvSpPr>
          <p:cNvPr id="2" name="Rectangle 1">
            <a:extLst>
              <a:ext uri="{FF2B5EF4-FFF2-40B4-BE49-F238E27FC236}">
                <a16:creationId xmlns:a16="http://schemas.microsoft.com/office/drawing/2014/main" id="{4ADD4C02-EDE9-43BC-F8F2-882F6F5F430E}"/>
              </a:ext>
            </a:extLst>
          </p:cNvPr>
          <p:cNvSpPr>
            <a:spLocks noChangeArrowheads="1"/>
          </p:cNvSpPr>
          <p:nvPr/>
        </p:nvSpPr>
        <p:spPr bwMode="auto">
          <a:xfrm>
            <a:off x="2552700" y="2183908"/>
            <a:ext cx="14706600" cy="104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IN" sz="3200" b="1" dirty="0">
                <a:latin typeface="Times New Roman" panose="02020603050405020304" pitchFamily="18" charset="0"/>
                <a:cs typeface="Times New Roman" panose="02020603050405020304" pitchFamily="18" charset="0"/>
              </a:rPr>
              <a:t>Key Objectives:</a:t>
            </a:r>
          </a:p>
          <a:p>
            <a:pPr lvl="0" eaLnBrk="0" fontAlgn="base" hangingPunct="0">
              <a:spcBef>
                <a:spcPct val="0"/>
              </a:spcBef>
              <a:spcAft>
                <a:spcPct val="0"/>
              </a:spcAft>
            </a:pPr>
            <a:endPar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F3731FC9-2BA4-651C-5004-4BEBB72EB11B}"/>
              </a:ext>
            </a:extLst>
          </p:cNvPr>
          <p:cNvSpPr>
            <a:spLocks noChangeArrowheads="1"/>
          </p:cNvSpPr>
          <p:nvPr/>
        </p:nvSpPr>
        <p:spPr bwMode="auto">
          <a:xfrm>
            <a:off x="3131228" y="3756972"/>
            <a:ext cx="13549543"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To develop a web-based system for efficient campus event management</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To enable easy event registration and secure user authentication</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To provide automated ticket generation and admin analytics</a:t>
            </a:r>
            <a:br>
              <a:rPr lang="en-US" sz="3500" dirty="0">
                <a:latin typeface="Times New Roman" panose="02020603050405020304" pitchFamily="18" charset="0"/>
                <a:cs typeface="Times New Roman" panose="02020603050405020304" pitchFamily="18" charset="0"/>
              </a:rPr>
            </a:br>
            <a:endParaRPr kumimoji="0" lang="en-US" altLang="en-US" sz="3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977075" y="2244110"/>
            <a:ext cx="15082325" cy="4401205"/>
          </a:xfrm>
          <a:prstGeom prst="rect">
            <a:avLst/>
          </a:prstGeom>
          <a:noFill/>
        </p:spPr>
        <p:txBody>
          <a:bodyPr wrap="square" rtlCol="0">
            <a:spAutoFit/>
          </a:bodyPr>
          <a:lstStyle/>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The system is a web-based platform for managing campus events</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Provides a centralized solution for students and administrators</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Allows users to browse, select, and register for events online</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Ensures secure login and user authentication</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Automates event registration and data storage</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Generates PDF tickets after successful booking</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Provides admin dashboard with charts and analytics</a:t>
            </a:r>
          </a:p>
          <a:p>
            <a:pPr marL="457200" indent="-4572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Improves efficiency, reduces errors, and enhances user experience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AutoShape 4" descr="Event lifecycle &amp; ticketing flowchart">
            <a:extLst>
              <a:ext uri="{FF2B5EF4-FFF2-40B4-BE49-F238E27FC236}">
                <a16:creationId xmlns:a16="http://schemas.microsoft.com/office/drawing/2014/main" id="{D13A677B-638F-926C-7211-22E23AC254E3}"/>
              </a:ext>
            </a:extLst>
          </p:cNvPr>
          <p:cNvSpPr>
            <a:spLocks noChangeAspect="1" noChangeArrowheads="1"/>
          </p:cNvSpPr>
          <p:nvPr/>
        </p:nvSpPr>
        <p:spPr bwMode="auto">
          <a:xfrm>
            <a:off x="10744200" y="4277605"/>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4" name="Picture 33">
            <a:extLst>
              <a:ext uri="{FF2B5EF4-FFF2-40B4-BE49-F238E27FC236}">
                <a16:creationId xmlns:a16="http://schemas.microsoft.com/office/drawing/2014/main" id="{290290CF-12B7-87C5-D16C-0598268719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29000" y="1492658"/>
            <a:ext cx="11430000" cy="6704707"/>
          </a:xfrm>
          <a:prstGeom prst="rect">
            <a:avLst/>
          </a:prstGeom>
        </p:spPr>
      </p:pic>
      <p:sp>
        <p:nvSpPr>
          <p:cNvPr id="4" name="TextBox 3">
            <a:extLst>
              <a:ext uri="{FF2B5EF4-FFF2-40B4-BE49-F238E27FC236}">
                <a16:creationId xmlns:a16="http://schemas.microsoft.com/office/drawing/2014/main" id="{E9071F31-2097-94E7-BD7A-83AE0C2F4565}"/>
              </a:ext>
            </a:extLst>
          </p:cNvPr>
          <p:cNvSpPr txBox="1"/>
          <p:nvPr/>
        </p:nvSpPr>
        <p:spPr>
          <a:xfrm>
            <a:off x="7429500" y="8478026"/>
            <a:ext cx="9144000" cy="707886"/>
          </a:xfrm>
          <a:prstGeom prst="rect">
            <a:avLst/>
          </a:prstGeom>
          <a:noFill/>
        </p:spPr>
        <p:txBody>
          <a:bodyPr wrap="square">
            <a:spAutoFit/>
          </a:bodyPr>
          <a:lstStyle/>
          <a:p>
            <a:r>
              <a:rPr lang="en-IN" sz="2000" b="1" i="0" dirty="0">
                <a:solidFill>
                  <a:srgbClr val="0D0D0D"/>
                </a:solidFill>
                <a:effectLst/>
                <a:latin typeface="Times New Roman" panose="02020603050405020304" pitchFamily="18" charset="0"/>
                <a:cs typeface="Times New Roman" panose="02020603050405020304" pitchFamily="18" charset="0"/>
              </a:rPr>
              <a:t>Fig-1 :Proposed System Architecture</a:t>
            </a:r>
            <a:endParaRPr lang="en-IN" sz="2000" b="1" dirty="0">
              <a:solidFill>
                <a:srgbClr val="0033CC"/>
              </a:solidFill>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BD74D5-5436-17D6-B8C6-A4DD04EF84D1}"/>
              </a:ext>
            </a:extLst>
          </p:cNvPr>
          <p:cNvSpPr txBox="1"/>
          <p:nvPr/>
        </p:nvSpPr>
        <p:spPr>
          <a:xfrm>
            <a:off x="2286000" y="571500"/>
            <a:ext cx="10896600" cy="9071714"/>
          </a:xfrm>
          <a:prstGeom prst="rect">
            <a:avLst/>
          </a:prstGeom>
          <a:noFill/>
        </p:spPr>
        <p:txBody>
          <a:bodyPr wrap="square">
            <a:spAutoFit/>
          </a:bodyPr>
          <a:lstStyle/>
          <a:p>
            <a:pPr marL="457200" indent="-457200" algn="l">
              <a:spcBef>
                <a:spcPts val="1200"/>
              </a:spcBef>
              <a:spcAft>
                <a:spcPts val="300"/>
              </a:spcAft>
              <a:buFont typeface="Wingdings" panose="05000000000000000000" pitchFamily="2" charset="2"/>
              <a:buChar char="Ø"/>
            </a:pPr>
            <a:r>
              <a:rPr lang="en-IN" sz="3200" b="1" i="0" dirty="0">
                <a:solidFill>
                  <a:srgbClr val="0D0D0D"/>
                </a:solidFill>
                <a:effectLst/>
                <a:latin typeface="Times New Roman" panose="02020603050405020304" pitchFamily="18" charset="0"/>
                <a:cs typeface="Times New Roman" panose="02020603050405020304" pitchFamily="18" charset="0"/>
              </a:rPr>
              <a:t>Input</a:t>
            </a:r>
          </a:p>
          <a:p>
            <a:pPr marL="457200" indent="-457200" algn="l">
              <a:buFont typeface="Arial" panose="020B0604020202020204" pitchFamily="34" charset="0"/>
              <a:buChar char="•"/>
            </a:pPr>
            <a:r>
              <a:rPr lang="en-IN" sz="3200" b="0" i="0" dirty="0">
                <a:solidFill>
                  <a:srgbClr val="0D0D0D"/>
                </a:solidFill>
                <a:effectLst/>
                <a:latin typeface="Times New Roman" panose="02020603050405020304" pitchFamily="18" charset="0"/>
                <a:cs typeface="Times New Roman" panose="02020603050405020304" pitchFamily="18" charset="0"/>
              </a:rPr>
              <a:t>User login and registration details</a:t>
            </a:r>
          </a:p>
          <a:p>
            <a:pPr marL="457200" indent="-457200" algn="l">
              <a:buFont typeface="Arial" panose="020B0604020202020204" pitchFamily="34" charset="0"/>
              <a:buChar char="•"/>
            </a:pPr>
            <a:r>
              <a:rPr lang="en-IN" sz="3200" b="0" i="0" dirty="0">
                <a:solidFill>
                  <a:srgbClr val="0D0D0D"/>
                </a:solidFill>
                <a:effectLst/>
                <a:latin typeface="Times New Roman" panose="02020603050405020304" pitchFamily="18" charset="0"/>
                <a:cs typeface="Times New Roman" panose="02020603050405020304" pitchFamily="18" charset="0"/>
              </a:rPr>
              <a:t>Event search and selection inputs</a:t>
            </a:r>
          </a:p>
          <a:p>
            <a:pPr marL="457200" indent="-457200" algn="l">
              <a:buFont typeface="Arial" panose="020B0604020202020204" pitchFamily="34" charset="0"/>
              <a:buChar char="•"/>
            </a:pPr>
            <a:r>
              <a:rPr lang="en-IN" sz="3200" b="0" i="0" dirty="0">
                <a:solidFill>
                  <a:srgbClr val="0D0D0D"/>
                </a:solidFill>
                <a:effectLst/>
                <a:latin typeface="Times New Roman" panose="02020603050405020304" pitchFamily="18" charset="0"/>
                <a:cs typeface="Times New Roman" panose="02020603050405020304" pitchFamily="18" charset="0"/>
              </a:rPr>
              <a:t>Admin inputs for event creation and updates</a:t>
            </a:r>
            <a:endParaRPr lang="en-IN" sz="3200" dirty="0">
              <a:latin typeface="Times New Roman" panose="02020603050405020304" pitchFamily="18" charset="0"/>
              <a:cs typeface="Times New Roman" panose="02020603050405020304" pitchFamily="18" charset="0"/>
            </a:endParaRPr>
          </a:p>
          <a:p>
            <a:pPr marL="457200" indent="-457200" algn="l">
              <a:spcAft>
                <a:spcPts val="300"/>
              </a:spcAft>
              <a:buFont typeface="Wingdings" panose="05000000000000000000" pitchFamily="2" charset="2"/>
              <a:buChar char="Ø"/>
            </a:pPr>
            <a:r>
              <a:rPr lang="en-IN" sz="3200" b="1" i="0" dirty="0">
                <a:solidFill>
                  <a:srgbClr val="0D0D0D"/>
                </a:solidFill>
                <a:effectLst/>
                <a:latin typeface="Times New Roman" panose="02020603050405020304" pitchFamily="18" charset="0"/>
                <a:cs typeface="Times New Roman" panose="02020603050405020304" pitchFamily="18" charset="0"/>
              </a:rPr>
              <a:t> Processing</a:t>
            </a:r>
          </a:p>
          <a:p>
            <a:pPr marL="457200" indent="-457200" algn="l">
              <a:buFont typeface="Arial" panose="020B0604020202020204" pitchFamily="34" charset="0"/>
              <a:buChar char="•"/>
            </a:pPr>
            <a:r>
              <a:rPr lang="en-IN" sz="3200" b="0" i="0" dirty="0">
                <a:solidFill>
                  <a:srgbClr val="0D0D0D"/>
                </a:solidFill>
                <a:effectLst/>
                <a:latin typeface="Times New Roman" panose="02020603050405020304" pitchFamily="18" charset="0"/>
                <a:cs typeface="Times New Roman" panose="02020603050405020304" pitchFamily="18" charset="0"/>
              </a:rPr>
              <a:t>Requests handled by </a:t>
            </a:r>
            <a:r>
              <a:rPr lang="en-IN" sz="3200" b="1" i="0" dirty="0">
                <a:solidFill>
                  <a:srgbClr val="0D0D0D"/>
                </a:solidFill>
                <a:effectLst/>
                <a:latin typeface="Times New Roman" panose="02020603050405020304" pitchFamily="18" charset="0"/>
                <a:cs typeface="Times New Roman" panose="02020603050405020304" pitchFamily="18" charset="0"/>
              </a:rPr>
              <a:t>Spring MVC Controllers</a:t>
            </a:r>
            <a:endParaRPr lang="en-IN" sz="3200" b="0" i="0" dirty="0">
              <a:solidFill>
                <a:srgbClr val="0D0D0D"/>
              </a:solidFill>
              <a:effectLst/>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Char char="•"/>
            </a:pPr>
            <a:r>
              <a:rPr lang="en-IN" sz="3200" b="0" i="0" dirty="0">
                <a:solidFill>
                  <a:srgbClr val="0D0D0D"/>
                </a:solidFill>
                <a:effectLst/>
                <a:latin typeface="Times New Roman" panose="02020603050405020304" pitchFamily="18" charset="0"/>
                <a:cs typeface="Times New Roman" panose="02020603050405020304" pitchFamily="18" charset="0"/>
              </a:rPr>
              <a:t>Business logic executed in </a:t>
            </a:r>
            <a:r>
              <a:rPr lang="en-IN" sz="3200" b="1" i="0" dirty="0">
                <a:solidFill>
                  <a:srgbClr val="0D0D0D"/>
                </a:solidFill>
                <a:effectLst/>
                <a:latin typeface="Times New Roman" panose="02020603050405020304" pitchFamily="18" charset="0"/>
                <a:cs typeface="Times New Roman" panose="02020603050405020304" pitchFamily="18" charset="0"/>
              </a:rPr>
              <a:t>Service Layer</a:t>
            </a:r>
            <a:endParaRPr lang="en-IN" sz="3200" b="0" i="0" dirty="0">
              <a:solidFill>
                <a:srgbClr val="0D0D0D"/>
              </a:solidFill>
              <a:effectLst/>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Char char="•"/>
            </a:pPr>
            <a:r>
              <a:rPr lang="en-IN" sz="3200" b="0" i="0" dirty="0">
                <a:solidFill>
                  <a:srgbClr val="0D0D0D"/>
                </a:solidFill>
                <a:effectLst/>
                <a:latin typeface="Times New Roman" panose="02020603050405020304" pitchFamily="18" charset="0"/>
                <a:cs typeface="Times New Roman" panose="02020603050405020304" pitchFamily="18" charset="0"/>
              </a:rPr>
              <a:t>Data validation and request handling performed</a:t>
            </a:r>
          </a:p>
          <a:p>
            <a:pPr marL="457200" indent="-457200" algn="l">
              <a:buFont typeface="Arial" panose="020B0604020202020204" pitchFamily="34" charset="0"/>
              <a:buChar char="•"/>
            </a:pPr>
            <a:r>
              <a:rPr lang="en-IN" sz="3200" b="0" i="0" dirty="0">
                <a:solidFill>
                  <a:srgbClr val="0D0D0D"/>
                </a:solidFill>
                <a:effectLst/>
                <a:latin typeface="Times New Roman" panose="02020603050405020304" pitchFamily="18" charset="0"/>
                <a:cs typeface="Times New Roman" panose="02020603050405020304" pitchFamily="18" charset="0"/>
              </a:rPr>
              <a:t>Secure authentication using </a:t>
            </a:r>
            <a:r>
              <a:rPr lang="en-IN" sz="3200" b="1" i="0" dirty="0">
                <a:solidFill>
                  <a:srgbClr val="0D0D0D"/>
                </a:solidFill>
                <a:effectLst/>
                <a:latin typeface="Times New Roman" panose="02020603050405020304" pitchFamily="18" charset="0"/>
                <a:cs typeface="Times New Roman" panose="02020603050405020304" pitchFamily="18" charset="0"/>
              </a:rPr>
              <a:t>Spring Security</a:t>
            </a:r>
          </a:p>
          <a:p>
            <a:pPr marL="457200" indent="-457200" algn="l">
              <a:spcAft>
                <a:spcPts val="300"/>
              </a:spcAft>
              <a:buFont typeface="Wingdings" panose="05000000000000000000" pitchFamily="2" charset="2"/>
              <a:buChar char="Ø"/>
            </a:pPr>
            <a:r>
              <a:rPr lang="en-IN" sz="3200" b="1" i="0" dirty="0">
                <a:solidFill>
                  <a:srgbClr val="0D0D0D"/>
                </a:solidFill>
                <a:effectLst/>
                <a:latin typeface="Times New Roman" panose="02020603050405020304" pitchFamily="18" charset="0"/>
                <a:cs typeface="Times New Roman" panose="02020603050405020304" pitchFamily="18" charset="0"/>
              </a:rPr>
              <a:t>Database</a:t>
            </a:r>
          </a:p>
          <a:p>
            <a:pPr marL="457200" indent="-457200" algn="l">
              <a:buFont typeface="Arial" panose="020B0604020202020204" pitchFamily="34" charset="0"/>
              <a:buChar char="•"/>
            </a:pPr>
            <a:r>
              <a:rPr lang="en-IN" sz="3200" b="0" i="0" dirty="0">
                <a:solidFill>
                  <a:srgbClr val="0D0D0D"/>
                </a:solidFill>
                <a:effectLst/>
                <a:latin typeface="Times New Roman" panose="02020603050405020304" pitchFamily="18" charset="0"/>
                <a:cs typeface="Times New Roman" panose="02020603050405020304" pitchFamily="18" charset="0"/>
              </a:rPr>
              <a:t>MySQL database used for data storage</a:t>
            </a:r>
          </a:p>
          <a:p>
            <a:pPr marL="457200" indent="-457200" algn="l">
              <a:buFont typeface="Arial" panose="020B0604020202020204" pitchFamily="34" charset="0"/>
              <a:buChar char="•"/>
            </a:pPr>
            <a:r>
              <a:rPr lang="en-IN" sz="3200" b="0" i="0" dirty="0">
                <a:solidFill>
                  <a:srgbClr val="0D0D0D"/>
                </a:solidFill>
                <a:effectLst/>
                <a:latin typeface="Times New Roman" panose="02020603050405020304" pitchFamily="18" charset="0"/>
                <a:cs typeface="Times New Roman" panose="02020603050405020304" pitchFamily="18" charset="0"/>
              </a:rPr>
              <a:t>Stores </a:t>
            </a:r>
            <a:r>
              <a:rPr lang="en-IN" sz="3200" b="1" i="0" dirty="0">
                <a:solidFill>
                  <a:srgbClr val="0D0D0D"/>
                </a:solidFill>
                <a:effectLst/>
                <a:latin typeface="Times New Roman" panose="02020603050405020304" pitchFamily="18" charset="0"/>
                <a:cs typeface="Times New Roman" panose="02020603050405020304" pitchFamily="18" charset="0"/>
              </a:rPr>
              <a:t>users, events, registrations, and tickets</a:t>
            </a:r>
            <a:endParaRPr lang="en-IN" sz="3200" b="0" i="0" dirty="0">
              <a:solidFill>
                <a:srgbClr val="0D0D0D"/>
              </a:solidFill>
              <a:effectLst/>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Char char="•"/>
            </a:pPr>
            <a:r>
              <a:rPr lang="en-IN" sz="3200" b="0" i="0" dirty="0">
                <a:solidFill>
                  <a:srgbClr val="0D0D0D"/>
                </a:solidFill>
                <a:effectLst/>
                <a:latin typeface="Times New Roman" panose="02020603050405020304" pitchFamily="18" charset="0"/>
                <a:cs typeface="Times New Roman" panose="02020603050405020304" pitchFamily="18" charset="0"/>
              </a:rPr>
              <a:t>Managed using </a:t>
            </a:r>
            <a:r>
              <a:rPr lang="en-IN" sz="3200" b="1" i="0" dirty="0">
                <a:solidFill>
                  <a:srgbClr val="0D0D0D"/>
                </a:solidFill>
                <a:effectLst/>
                <a:latin typeface="Times New Roman" panose="02020603050405020304" pitchFamily="18" charset="0"/>
                <a:cs typeface="Times New Roman" panose="02020603050405020304" pitchFamily="18" charset="0"/>
              </a:rPr>
              <a:t>Spring Data JPA (CRUD operations)</a:t>
            </a:r>
          </a:p>
          <a:p>
            <a:pPr marL="457200" indent="-457200">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 Output</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Displays event details and registration status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Generates </a:t>
            </a:r>
            <a:r>
              <a:rPr lang="en-US" sz="3200" b="1" dirty="0">
                <a:latin typeface="Times New Roman" panose="02020603050405020304" pitchFamily="18" charset="0"/>
                <a:cs typeface="Times New Roman" panose="02020603050405020304" pitchFamily="18" charset="0"/>
              </a:rPr>
              <a:t>PDF tickets after booking</a:t>
            </a:r>
            <a:endParaRPr 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Shows admin dashboard with </a:t>
            </a:r>
            <a:r>
              <a:rPr lang="en-US" sz="3200" b="1" dirty="0">
                <a:latin typeface="Times New Roman" panose="02020603050405020304" pitchFamily="18" charset="0"/>
                <a:cs typeface="Times New Roman" panose="02020603050405020304" pitchFamily="18" charset="0"/>
              </a:rPr>
              <a:t>charts and analytics</a:t>
            </a:r>
            <a:endParaRPr lang="en-US" sz="3200" dirty="0">
              <a:latin typeface="Times New Roman" panose="02020603050405020304" pitchFamily="18" charset="0"/>
              <a:cs typeface="Times New Roman" panose="02020603050405020304" pitchFamily="18" charset="0"/>
            </a:endParaRPr>
          </a:p>
          <a:p>
            <a:pPr algn="l"/>
            <a:endParaRPr lang="en-IN" sz="3200" b="0" i="0" dirty="0">
              <a:solidFill>
                <a:srgbClr val="0D0D0D"/>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588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AutoShape 2" descr="Generated image: Event ticketing data flow diagram">
            <a:extLst>
              <a:ext uri="{FF2B5EF4-FFF2-40B4-BE49-F238E27FC236}">
                <a16:creationId xmlns:a16="http://schemas.microsoft.com/office/drawing/2014/main" id="{F27170E4-43BD-30A9-709D-B2A43353E94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8605A552-C2F8-94C0-D870-A9275600E2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7496" y="1084922"/>
            <a:ext cx="6629400" cy="7350614"/>
          </a:xfrm>
          <a:prstGeom prst="rect">
            <a:avLst/>
          </a:prstGeom>
        </p:spPr>
      </p:pic>
      <p:sp>
        <p:nvSpPr>
          <p:cNvPr id="5" name="TextBox 4">
            <a:extLst>
              <a:ext uri="{FF2B5EF4-FFF2-40B4-BE49-F238E27FC236}">
                <a16:creationId xmlns:a16="http://schemas.microsoft.com/office/drawing/2014/main" id="{601041B5-E46C-ED73-1ABC-9296631FC784}"/>
              </a:ext>
            </a:extLst>
          </p:cNvPr>
          <p:cNvSpPr txBox="1"/>
          <p:nvPr/>
        </p:nvSpPr>
        <p:spPr>
          <a:xfrm>
            <a:off x="7924800" y="8926901"/>
            <a:ext cx="9144000" cy="400110"/>
          </a:xfrm>
          <a:prstGeom prst="rect">
            <a:avLst/>
          </a:prstGeom>
          <a:noFill/>
        </p:spPr>
        <p:txBody>
          <a:bodyPr wrap="square">
            <a:spAutoFit/>
          </a:bodyPr>
          <a:lstStyle/>
          <a:p>
            <a:r>
              <a:rPr lang="en-IN" sz="2000" b="1" i="0" dirty="0">
                <a:solidFill>
                  <a:srgbClr val="0D0D0D"/>
                </a:solidFill>
                <a:effectLst/>
                <a:latin typeface="Times New Roman" panose="02020603050405020304" pitchFamily="18" charset="0"/>
                <a:cs typeface="Times New Roman" panose="02020603050405020304" pitchFamily="18" charset="0"/>
              </a:rPr>
              <a:t>Fig-2 : Work Flow</a:t>
            </a:r>
            <a:endParaRPr lang="en-IN"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685800" y="5976927"/>
            <a:ext cx="992463" cy="992463"/>
            <a:chOff x="-40775" y="0"/>
            <a:chExt cx="812800" cy="812800"/>
          </a:xfrm>
        </p:grpSpPr>
        <p:sp>
          <p:nvSpPr>
            <p:cNvPr id="20" name="Freeform 20"/>
            <p:cNvSpPr/>
            <p:nvPr/>
          </p:nvSpPr>
          <p:spPr>
            <a:xfrm>
              <a:off x="-40775"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1803231"/>
          </a:xfrm>
          <a:prstGeom prst="rect">
            <a:avLst/>
          </a:prstGeom>
          <a:noFill/>
        </p:spPr>
        <p:txBody>
          <a:bodyPr wrap="square" rtlCol="0">
            <a:spAutoFit/>
          </a:bodyPr>
          <a:lstStyle/>
          <a:p>
            <a:pPr marL="457200" indent="-457200">
              <a:buFont typeface="Wingdings" panose="05000000000000000000" pitchFamily="2" charset="2"/>
              <a:buChar char="v"/>
            </a:pPr>
            <a:r>
              <a:rPr lang="en-US" sz="2800" b="1" dirty="0">
                <a:latin typeface="Times New Roman" panose="02020603050405020304" pitchFamily="18" charset="0"/>
                <a:cs typeface="Times New Roman" panose="02020603050405020304" pitchFamily="18" charset="0"/>
              </a:rPr>
              <a:t>Frontend: </a:t>
            </a:r>
            <a:r>
              <a:rPr lang="en-IN" sz="2500" dirty="0">
                <a:latin typeface="Times New Roman" panose="02020603050405020304" pitchFamily="18" charset="0"/>
                <a:cs typeface="Times New Roman" panose="02020603050405020304" pitchFamily="18" charset="0"/>
              </a:rPr>
              <a:t>HTML, CSS, </a:t>
            </a:r>
            <a:r>
              <a:rPr lang="en-IN" sz="2500" dirty="0" err="1">
                <a:latin typeface="Times New Roman" panose="02020603050405020304" pitchFamily="18" charset="0"/>
                <a:cs typeface="Times New Roman" panose="02020603050405020304" pitchFamily="18" charset="0"/>
              </a:rPr>
              <a:t>Thymeleaf</a:t>
            </a:r>
            <a:endParaRPr lang="en-IN" sz="25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b="1" dirty="0">
                <a:latin typeface="Times New Roman" panose="02020603050405020304" pitchFamily="18" charset="0"/>
                <a:cs typeface="Times New Roman" panose="02020603050405020304" pitchFamily="18" charset="0"/>
              </a:rPr>
              <a:t>Backend: </a:t>
            </a:r>
            <a:r>
              <a:rPr lang="en-IN" sz="2500" dirty="0">
                <a:latin typeface="Times New Roman" panose="02020603050405020304" pitchFamily="18" charset="0"/>
                <a:cs typeface="Times New Roman" panose="02020603050405020304" pitchFamily="18" charset="0"/>
              </a:rPr>
              <a:t>Spring Boot, Spring MVC, Spring Security</a:t>
            </a:r>
          </a:p>
          <a:p>
            <a:pPr marL="457200" indent="-457200">
              <a:buFont typeface="Wingdings" panose="05000000000000000000" pitchFamily="2" charset="2"/>
              <a:buChar char="v"/>
            </a:pPr>
            <a:r>
              <a:rPr lang="en-US" sz="2800" b="1" dirty="0">
                <a:latin typeface="Times New Roman" panose="02020603050405020304" pitchFamily="18" charset="0"/>
                <a:cs typeface="Times New Roman" panose="02020603050405020304" pitchFamily="18" charset="0"/>
              </a:rPr>
              <a:t>Database: </a:t>
            </a:r>
            <a:r>
              <a:rPr lang="en-IN" sz="2500" dirty="0">
                <a:latin typeface="Times New Roman" panose="02020603050405020304" pitchFamily="18" charset="0"/>
                <a:cs typeface="Times New Roman" panose="02020603050405020304" pitchFamily="18" charset="0"/>
              </a:rPr>
              <a:t>MySQL</a:t>
            </a:r>
          </a:p>
          <a:p>
            <a:pPr marL="285750" indent="-285750">
              <a:buFont typeface="Wingdings" panose="05000000000000000000" pitchFamily="2" charset="2"/>
              <a:buChar char="v"/>
            </a:pPr>
            <a:r>
              <a:rPr lang="en-US" sz="2800" b="1" dirty="0">
                <a:latin typeface="Times New Roman" panose="02020603050405020304" pitchFamily="18" charset="0"/>
                <a:cs typeface="Times New Roman" panose="02020603050405020304" pitchFamily="18" charset="0"/>
              </a:rPr>
              <a:t>Third-Party API:</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Java Mail API (for OTP verification) </a:t>
            </a:r>
            <a:r>
              <a:rPr lang="en-US" sz="2800" i="1" dirty="0">
                <a:latin typeface="Times New Roman" panose="02020603050405020304" pitchFamily="18" charset="0"/>
                <a:cs typeface="Times New Roman" panose="02020603050405020304" pitchFamily="18" charset="0"/>
              </a:rPr>
              <a:t>(if you used it)</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FPDF / PDF Library (for ticket generation)</a:t>
            </a:r>
            <a:endParaRPr lang="en-IN" sz="25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b="1" dirty="0">
                <a:latin typeface="Times New Roman" panose="02020603050405020304" pitchFamily="18" charset="0"/>
                <a:cs typeface="Times New Roman" panose="02020603050405020304" pitchFamily="18" charset="0"/>
              </a:rPr>
              <a:t>Tools: </a:t>
            </a:r>
            <a:r>
              <a:rPr lang="en-IN" sz="2500" dirty="0">
                <a:latin typeface="Times New Roman" panose="02020603050405020304" pitchFamily="18" charset="0"/>
                <a:cs typeface="Times New Roman" panose="02020603050405020304" pitchFamily="18" charset="0"/>
              </a:rPr>
              <a:t>Eclipse, Maven</a:t>
            </a:r>
          </a:p>
          <a:p>
            <a:endParaRPr lang="en-US" sz="25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Hardware/Software Requirements:</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Processor: Intel i3 or above</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RAM: Minimum 4GB</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OS: Windows/Linux</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Browser: Chrome/Edge</a:t>
            </a:r>
          </a:p>
          <a:p>
            <a:r>
              <a:rPr lang="en-US" sz="2800" dirty="0"/>
              <a:t/>
            </a:r>
            <a:br>
              <a:rPr lang="en-US" sz="2800" dirty="0"/>
            </a:b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39657" y="1173897"/>
            <a:ext cx="15082325" cy="8371523"/>
          </a:xfrm>
          <a:prstGeom prst="rect">
            <a:avLst/>
          </a:prstGeom>
          <a:noFill/>
        </p:spPr>
        <p:txBody>
          <a:bodyPr wrap="square" rtlCol="0">
            <a:spAutoFit/>
          </a:bodyPr>
          <a:lstStyle/>
          <a:p>
            <a:endParaRPr lang="en-IN" sz="2800" b="1" dirty="0"/>
          </a:p>
          <a:p>
            <a:r>
              <a:rPr lang="en-IN" sz="2800" b="1" dirty="0"/>
              <a:t>Module 1: </a:t>
            </a:r>
            <a:r>
              <a:rPr lang="en-IN" sz="3000" b="1" dirty="0">
                <a:latin typeface="Times New Roman" panose="02020603050405020304" pitchFamily="18" charset="0"/>
                <a:cs typeface="Times New Roman" panose="02020603050405020304" pitchFamily="18" charset="0"/>
              </a:rPr>
              <a:t>User Authentication</a:t>
            </a:r>
          </a:p>
          <a:p>
            <a:r>
              <a:rPr lang="en-US" sz="2800" dirty="0">
                <a:latin typeface="Times New Roman" panose="02020603050405020304" pitchFamily="18" charset="0"/>
                <a:cs typeface="Times New Roman" panose="02020603050405020304" pitchFamily="18" charset="0"/>
              </a:rPr>
              <a:t>This module handles the registration and login functionality of users. It allows new users to create an account and existing users to log in securely using their credentials. The system uses authentication mechanisms to ensure data security and restrict unauthorized access. It also manages user sessions after successful login.</a:t>
            </a:r>
            <a:r>
              <a:rPr lang="en-US" sz="2800" dirty="0"/>
              <a:t/>
            </a:r>
            <a:br>
              <a:rPr lang="en-US" sz="2800" dirty="0"/>
            </a:br>
            <a:r>
              <a:rPr lang="en-IN" sz="2800" b="1" dirty="0"/>
              <a:t>Module 2</a:t>
            </a:r>
            <a:r>
              <a:rPr lang="en-IN" sz="2800" dirty="0"/>
              <a:t>: </a:t>
            </a:r>
            <a:r>
              <a:rPr lang="en-IN" sz="3000" b="1" dirty="0">
                <a:latin typeface="Times New Roman" panose="02020603050405020304" pitchFamily="18" charset="0"/>
                <a:cs typeface="Times New Roman" panose="02020603050405020304" pitchFamily="18" charset="0"/>
              </a:rPr>
              <a:t>Event Management</a:t>
            </a:r>
          </a:p>
          <a:p>
            <a:r>
              <a:rPr lang="en-US" sz="2800" dirty="0">
                <a:latin typeface="Times New Roman" panose="02020603050405020304" pitchFamily="18" charset="0"/>
                <a:cs typeface="Times New Roman" panose="02020603050405020304" pitchFamily="18" charset="0"/>
              </a:rPr>
              <a:t>This module is responsible for managing all event-related activities. The administrator can add, update, and delete event details such as title, date, location, and description. Users can view the list of available events and select events based on their interests.</a:t>
            </a:r>
            <a:r>
              <a:rPr lang="en-US" sz="2800" dirty="0"/>
              <a:t/>
            </a:r>
            <a:br>
              <a:rPr lang="en-US" sz="2800" dirty="0"/>
            </a:br>
            <a:r>
              <a:rPr lang="en-IN" sz="2800" b="1" dirty="0"/>
              <a:t>Module 3:</a:t>
            </a:r>
            <a:r>
              <a:rPr lang="en-IN" sz="2800" b="1" dirty="0">
                <a:latin typeface="Times New Roman" panose="02020603050405020304" pitchFamily="18" charset="0"/>
                <a:cs typeface="Times New Roman" panose="02020603050405020304" pitchFamily="18" charset="0"/>
              </a:rPr>
              <a:t>Registration and Ticket Generation</a:t>
            </a:r>
          </a:p>
          <a:p>
            <a:r>
              <a:rPr lang="en-US" sz="2800" dirty="0">
                <a:latin typeface="Times New Roman" panose="02020603050405020304" pitchFamily="18" charset="0"/>
                <a:cs typeface="Times New Roman" panose="02020603050405020304" pitchFamily="18" charset="0"/>
              </a:rPr>
              <a:t>This module enables users to register for selected events by entering their personal details. Once the registration is completed successfully, the system displays a confirmation or payment success page. It also generates a PDF ticket containing event and user information.</a:t>
            </a:r>
          </a:p>
          <a:p>
            <a:r>
              <a:rPr lang="en-IN" sz="2800" b="1" dirty="0"/>
              <a:t>Module 4: </a:t>
            </a:r>
            <a:r>
              <a:rPr lang="en-IN" sz="3000" b="1" dirty="0">
                <a:latin typeface="Times New Roman" panose="02020603050405020304" pitchFamily="18" charset="0"/>
                <a:cs typeface="Times New Roman" panose="02020603050405020304" pitchFamily="18" charset="0"/>
              </a:rPr>
              <a:t>Admin Dashboard</a:t>
            </a:r>
          </a:p>
          <a:p>
            <a:r>
              <a:rPr lang="en-US" sz="2800" dirty="0">
                <a:latin typeface="Times New Roman" panose="02020603050405020304" pitchFamily="18" charset="0"/>
                <a:cs typeface="Times New Roman" panose="02020603050405020304" pitchFamily="18" charset="0"/>
              </a:rPr>
              <a:t>This module provides an interface for administrators to monitor and control the system. It displays event statistics and user participation using charts and reports. The admin can analyze data and manage the overall functioning of the system efficiently.</a:t>
            </a:r>
            <a:endParaRPr lang="en-IN" sz="2800" dirty="0"/>
          </a:p>
          <a:p>
            <a:endParaRPr lang="en-IN"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EEEDB9A-E99F-21F0-8AFD-90B748C7A9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2400" y="1574644"/>
            <a:ext cx="10210800" cy="5218548"/>
          </a:xfrm>
          <a:prstGeom prst="rect">
            <a:avLst/>
          </a:prstGeom>
        </p:spPr>
      </p:pic>
      <p:sp>
        <p:nvSpPr>
          <p:cNvPr id="3" name="TextBox 2">
            <a:extLst>
              <a:ext uri="{FF2B5EF4-FFF2-40B4-BE49-F238E27FC236}">
                <a16:creationId xmlns:a16="http://schemas.microsoft.com/office/drawing/2014/main" id="{226CCD85-03AB-60FA-5270-7FDF5DB3D0B7}"/>
              </a:ext>
            </a:extLst>
          </p:cNvPr>
          <p:cNvSpPr txBox="1"/>
          <p:nvPr/>
        </p:nvSpPr>
        <p:spPr>
          <a:xfrm>
            <a:off x="2651260" y="7553314"/>
            <a:ext cx="14135100" cy="1938992"/>
          </a:xfrm>
          <a:prstGeom prst="rect">
            <a:avLst/>
          </a:prstGeom>
          <a:noFill/>
        </p:spPr>
        <p:txBody>
          <a:bodyPr wrap="square">
            <a:spAutoFit/>
          </a:bodyPr>
          <a:lstStyle/>
          <a:p>
            <a:pPr algn="just"/>
            <a:r>
              <a:rPr lang="en-US" sz="3000" b="0" i="0">
                <a:solidFill>
                  <a:srgbClr val="0D0D0D"/>
                </a:solidFill>
                <a:effectLst/>
                <a:latin typeface="Times New Roman" panose="02020603050405020304" pitchFamily="18" charset="0"/>
                <a:cs typeface="Times New Roman" panose="02020603050405020304" pitchFamily="18" charset="0"/>
              </a:rPr>
              <a:t>The home page of the Smart Campus Event Management System provides a visually appealing interface for users to navigate the application. It allows users to explore events, register easily, and access different features through a clean navigation bar. The design uses a modern vintage theme to enhance user experience and engagement.</a:t>
            </a:r>
            <a:endParaRPr lang="en-IN" sz="3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61D1177-4A96-0746-CE53-A11C884CB954}"/>
              </a:ext>
            </a:extLst>
          </p:cNvPr>
          <p:cNvSpPr txBox="1"/>
          <p:nvPr/>
        </p:nvSpPr>
        <p:spPr>
          <a:xfrm>
            <a:off x="8296319" y="6965459"/>
            <a:ext cx="9144000" cy="369332"/>
          </a:xfrm>
          <a:prstGeom prst="rect">
            <a:avLst/>
          </a:prstGeom>
          <a:noFill/>
        </p:spPr>
        <p:txBody>
          <a:bodyPr wrap="square">
            <a:spAutoFit/>
          </a:bodyPr>
          <a:lstStyle/>
          <a:p>
            <a:r>
              <a:rPr lang="en-IN" b="1" i="0" dirty="0">
                <a:solidFill>
                  <a:srgbClr val="0D0D0D"/>
                </a:solidFill>
                <a:effectLst/>
                <a:latin typeface="Times New Roman" panose="02020603050405020304" pitchFamily="18" charset="0"/>
                <a:cs typeface="Times New Roman" panose="02020603050405020304" pitchFamily="18" charset="0"/>
              </a:rPr>
              <a:t>Fig-3 : Home Page</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2B14FAE-7F89-60BC-4F33-BA2E7621D4DC}"/>
              </a:ext>
            </a:extLst>
          </p:cNvPr>
          <p:cNvSpPr txBox="1"/>
          <p:nvPr/>
        </p:nvSpPr>
        <p:spPr>
          <a:xfrm>
            <a:off x="3047999" y="6970451"/>
            <a:ext cx="14262259" cy="1938992"/>
          </a:xfrm>
          <a:prstGeom prst="rect">
            <a:avLst/>
          </a:prstGeom>
          <a:noFill/>
        </p:spPr>
        <p:txBody>
          <a:bodyPr wrap="square">
            <a:spAutoFit/>
          </a:bodyPr>
          <a:lstStyle/>
          <a:p>
            <a:pPr algn="just"/>
            <a:r>
              <a:rPr lang="en-US" sz="3000" b="0" i="0" dirty="0">
                <a:solidFill>
                  <a:srgbClr val="0D0D0D"/>
                </a:solidFill>
                <a:effectLst/>
                <a:latin typeface="Times New Roman" panose="02020603050405020304" pitchFamily="18" charset="0"/>
                <a:cs typeface="Times New Roman" panose="02020603050405020304" pitchFamily="18" charset="0"/>
              </a:rPr>
              <a:t>The login page provides a secure interface for users to access the system after OTP verification. It allows users to enter their credentials and ensures authentication before granting access. The clean design and highlighted login form improve usability and user experience.</a:t>
            </a:r>
            <a:endParaRPr lang="en-IN" sz="3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1D66B05-F865-FC89-BF9E-466C044CCADA}"/>
              </a:ext>
            </a:extLst>
          </p:cNvPr>
          <p:cNvSpPr txBox="1"/>
          <p:nvPr/>
        </p:nvSpPr>
        <p:spPr>
          <a:xfrm>
            <a:off x="8134350" y="6153563"/>
            <a:ext cx="9144000" cy="400110"/>
          </a:xfrm>
          <a:prstGeom prst="rect">
            <a:avLst/>
          </a:prstGeom>
          <a:noFill/>
        </p:spPr>
        <p:txBody>
          <a:bodyPr wrap="square">
            <a:spAutoFit/>
          </a:bodyPr>
          <a:lstStyle/>
          <a:p>
            <a:r>
              <a:rPr lang="en-IN" sz="2000" b="1" i="0" dirty="0">
                <a:solidFill>
                  <a:srgbClr val="0D0D0D"/>
                </a:solidFill>
                <a:effectLst/>
                <a:latin typeface="Times New Roman" panose="02020603050405020304" pitchFamily="18" charset="0"/>
                <a:cs typeface="Times New Roman" panose="02020603050405020304" pitchFamily="18" charset="0"/>
              </a:rPr>
              <a:t>Fig-</a:t>
            </a:r>
            <a:r>
              <a:rPr lang="en-IN" sz="2000" b="1" dirty="0">
                <a:solidFill>
                  <a:srgbClr val="0D0D0D"/>
                </a:solidFill>
                <a:latin typeface="Times New Roman" panose="02020603050405020304" pitchFamily="18" charset="0"/>
                <a:cs typeface="Times New Roman" panose="02020603050405020304" pitchFamily="18" charset="0"/>
              </a:rPr>
              <a:t>4 : Login Page</a:t>
            </a:r>
            <a:endParaRPr lang="en-IN" sz="2000" b="1" dirty="0">
              <a:latin typeface="Times New Roman" panose="02020603050405020304" pitchFamily="18" charset="0"/>
              <a:cs typeface="Times New Roman" panose="02020603050405020304" pitchFamily="18" charset="0"/>
            </a:endParaRPr>
          </a:p>
        </p:txBody>
      </p:sp>
      <p:pic>
        <p:nvPicPr>
          <p:cNvPr id="36" name="Picture 35">
            <a:extLst>
              <a:ext uri="{FF2B5EF4-FFF2-40B4-BE49-F238E27FC236}">
                <a16:creationId xmlns:a16="http://schemas.microsoft.com/office/drawing/2014/main" id="{A5A7CB22-5709-2099-30C0-BFEACE5A65B3}"/>
              </a:ext>
            </a:extLst>
          </p:cNvPr>
          <p:cNvPicPr>
            <a:picLocks noChangeAspect="1"/>
          </p:cNvPicPr>
          <p:nvPr/>
        </p:nvPicPr>
        <p:blipFill>
          <a:blip r:embed="rId3"/>
          <a:stretch>
            <a:fillRect/>
          </a:stretch>
        </p:blipFill>
        <p:spPr>
          <a:xfrm>
            <a:off x="4724400" y="1451043"/>
            <a:ext cx="9296400" cy="4360413"/>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EAFAEE3-F806-4C53-2FF3-687AE44EE6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1050" y="1466645"/>
            <a:ext cx="8714763" cy="4120507"/>
          </a:xfrm>
          <a:prstGeom prst="rect">
            <a:avLst/>
          </a:prstGeom>
        </p:spPr>
      </p:pic>
      <p:sp>
        <p:nvSpPr>
          <p:cNvPr id="4" name="TextBox 3">
            <a:extLst>
              <a:ext uri="{FF2B5EF4-FFF2-40B4-BE49-F238E27FC236}">
                <a16:creationId xmlns:a16="http://schemas.microsoft.com/office/drawing/2014/main" id="{9C6455BE-7C5E-0C22-AE29-CC5A06FD2E5D}"/>
              </a:ext>
            </a:extLst>
          </p:cNvPr>
          <p:cNvSpPr txBox="1"/>
          <p:nvPr/>
        </p:nvSpPr>
        <p:spPr>
          <a:xfrm>
            <a:off x="7924800" y="5879901"/>
            <a:ext cx="9144000" cy="369332"/>
          </a:xfrm>
          <a:prstGeom prst="rect">
            <a:avLst/>
          </a:prstGeom>
          <a:noFill/>
        </p:spPr>
        <p:txBody>
          <a:bodyPr wrap="square">
            <a:spAutoFit/>
          </a:bodyPr>
          <a:lstStyle/>
          <a:p>
            <a:r>
              <a:rPr lang="en-IN" sz="1800" b="1" i="0" dirty="0">
                <a:solidFill>
                  <a:srgbClr val="0D0D0D"/>
                </a:solidFill>
                <a:effectLst/>
                <a:latin typeface="Times New Roman" panose="02020603050405020304" pitchFamily="18" charset="0"/>
                <a:cs typeface="Times New Roman" panose="02020603050405020304" pitchFamily="18" charset="0"/>
              </a:rPr>
              <a:t>Fig-</a:t>
            </a:r>
            <a:r>
              <a:rPr lang="en-IN" b="1" i="0" dirty="0">
                <a:solidFill>
                  <a:srgbClr val="0D0D0D"/>
                </a:solidFill>
                <a:effectLst/>
                <a:latin typeface="Times New Roman" panose="02020603050405020304" pitchFamily="18" charset="0"/>
                <a:cs typeface="Times New Roman" panose="02020603050405020304" pitchFamily="18" charset="0"/>
              </a:rPr>
              <a:t>5 :  Event  Page</a:t>
            </a:r>
            <a:endParaRPr lang="en-IN" sz="18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DA87A1F-F54C-B26C-E52E-D7F14D0BB59A}"/>
              </a:ext>
            </a:extLst>
          </p:cNvPr>
          <p:cNvSpPr txBox="1"/>
          <p:nvPr/>
        </p:nvSpPr>
        <p:spPr>
          <a:xfrm>
            <a:off x="3400830" y="6791350"/>
            <a:ext cx="13404580" cy="1938992"/>
          </a:xfrm>
          <a:prstGeom prst="rect">
            <a:avLst/>
          </a:prstGeom>
          <a:noFill/>
        </p:spPr>
        <p:txBody>
          <a:bodyPr wrap="square">
            <a:spAutoFit/>
          </a:bodyPr>
          <a:lstStyle/>
          <a:p>
            <a:pPr algn="just"/>
            <a:r>
              <a:rPr lang="en-US" sz="3000" b="0" i="0" dirty="0">
                <a:solidFill>
                  <a:srgbClr val="0D0D0D"/>
                </a:solidFill>
                <a:effectLst/>
                <a:latin typeface="Times New Roman" panose="02020603050405020304" pitchFamily="18" charset="0"/>
                <a:cs typeface="Times New Roman" panose="02020603050405020304" pitchFamily="18" charset="0"/>
              </a:rPr>
              <a:t>The events page displays a list of upcoming campus events in an organized and visually appealing format. Users can browse events, apply filters, and select an event to register. It provides an easy way to explore and participate in various campus activities.</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544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0A7DABC6-FC35-8283-C5A8-A49ABCC33E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6967" y="1463092"/>
            <a:ext cx="9994065" cy="4750656"/>
          </a:xfrm>
          <a:prstGeom prst="rect">
            <a:avLst/>
          </a:prstGeom>
        </p:spPr>
      </p:pic>
      <p:sp>
        <p:nvSpPr>
          <p:cNvPr id="5" name="TextBox 4">
            <a:extLst>
              <a:ext uri="{FF2B5EF4-FFF2-40B4-BE49-F238E27FC236}">
                <a16:creationId xmlns:a16="http://schemas.microsoft.com/office/drawing/2014/main" id="{55DB49EC-7EEC-34A0-3562-F1BDAB3C6F6B}"/>
              </a:ext>
            </a:extLst>
          </p:cNvPr>
          <p:cNvSpPr txBox="1"/>
          <p:nvPr/>
        </p:nvSpPr>
        <p:spPr>
          <a:xfrm>
            <a:off x="8077200" y="6522630"/>
            <a:ext cx="9144000" cy="369332"/>
          </a:xfrm>
          <a:prstGeom prst="rect">
            <a:avLst/>
          </a:prstGeom>
          <a:noFill/>
        </p:spPr>
        <p:txBody>
          <a:bodyPr wrap="square">
            <a:spAutoFit/>
          </a:bodyPr>
          <a:lstStyle/>
          <a:p>
            <a:r>
              <a:rPr lang="en-IN" sz="1800" b="1" i="0" dirty="0">
                <a:solidFill>
                  <a:srgbClr val="0D0D0D"/>
                </a:solidFill>
                <a:effectLst/>
                <a:latin typeface="Times New Roman" panose="02020603050405020304" pitchFamily="18" charset="0"/>
                <a:cs typeface="Times New Roman" panose="02020603050405020304" pitchFamily="18" charset="0"/>
              </a:rPr>
              <a:t>Fig-</a:t>
            </a:r>
            <a:r>
              <a:rPr lang="en-IN" sz="1800" b="1" dirty="0">
                <a:solidFill>
                  <a:srgbClr val="0D0D0D"/>
                </a:solidFill>
                <a:latin typeface="Times New Roman" panose="02020603050405020304" pitchFamily="18" charset="0"/>
                <a:cs typeface="Times New Roman" panose="02020603050405020304" pitchFamily="18" charset="0"/>
              </a:rPr>
              <a:t>6 :  </a:t>
            </a:r>
            <a:r>
              <a:rPr lang="en-IN" sz="1800" b="1" dirty="0" err="1">
                <a:solidFill>
                  <a:srgbClr val="0D0D0D"/>
                </a:solidFill>
                <a:latin typeface="Times New Roman" panose="02020603050405020304" pitchFamily="18" charset="0"/>
                <a:cs typeface="Times New Roman" panose="02020603050405020304" pitchFamily="18" charset="0"/>
              </a:rPr>
              <a:t>OutPut</a:t>
            </a:r>
            <a:r>
              <a:rPr lang="en-IN" sz="1800" b="1" dirty="0">
                <a:solidFill>
                  <a:srgbClr val="0D0D0D"/>
                </a:solidFill>
                <a:latin typeface="Times New Roman" panose="02020603050405020304" pitchFamily="18" charset="0"/>
                <a:cs typeface="Times New Roman" panose="02020603050405020304" pitchFamily="18" charset="0"/>
              </a:rPr>
              <a:t> Page</a:t>
            </a:r>
            <a:endParaRPr lang="en-IN" sz="1800" b="1"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0567E954-2A79-62C0-BC43-666E2D128365}"/>
              </a:ext>
            </a:extLst>
          </p:cNvPr>
          <p:cNvSpPr txBox="1"/>
          <p:nvPr/>
        </p:nvSpPr>
        <p:spPr>
          <a:xfrm>
            <a:off x="2957616" y="7365682"/>
            <a:ext cx="13586692" cy="1938992"/>
          </a:xfrm>
          <a:prstGeom prst="rect">
            <a:avLst/>
          </a:prstGeom>
          <a:noFill/>
        </p:spPr>
        <p:txBody>
          <a:bodyPr wrap="square">
            <a:spAutoFit/>
          </a:bodyPr>
          <a:lstStyle/>
          <a:p>
            <a:pPr algn="just"/>
            <a:r>
              <a:rPr lang="en-US" sz="3000" b="0" i="0" dirty="0">
                <a:solidFill>
                  <a:srgbClr val="0D0D0D"/>
                </a:solidFill>
                <a:effectLst/>
                <a:latin typeface="Times New Roman" panose="02020603050405020304" pitchFamily="18" charset="0"/>
                <a:cs typeface="Times New Roman" panose="02020603050405020304" pitchFamily="18" charset="0"/>
              </a:rPr>
              <a:t>The student dashboard displays the user’s registered events and related details such as date, attendee count, and booking status. It allows users to track their registrations and download PDF tickets easily. This page provides a personalized view for managing event participation efficiently.</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889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8F73F5-20B7-1D47-4910-F977EF6D579C}"/>
              </a:ext>
            </a:extLst>
          </p:cNvPr>
          <p:cNvSpPr txBox="1"/>
          <p:nvPr/>
        </p:nvSpPr>
        <p:spPr>
          <a:xfrm>
            <a:off x="2286000" y="952500"/>
            <a:ext cx="13487400" cy="861774"/>
          </a:xfrm>
          <a:prstGeom prst="rect">
            <a:avLst/>
          </a:prstGeom>
          <a:noFill/>
        </p:spPr>
        <p:txBody>
          <a:bodyPr wrap="square">
            <a:spAutoFit/>
          </a:bodyPr>
          <a:lstStyle/>
          <a:p>
            <a:pPr algn="ctr"/>
            <a:r>
              <a:rPr lang="en-US" sz="5000" b="1" dirty="0">
                <a:solidFill>
                  <a:srgbClr val="0033CC"/>
                </a:solidFill>
                <a:latin typeface="Times New Roman" panose="02020603050405020304" pitchFamily="18" charset="0"/>
                <a:cs typeface="Times New Roman" panose="02020603050405020304" pitchFamily="18" charset="0"/>
              </a:rPr>
              <a:t>IMPLEMENTATION SCREENSHOTS</a:t>
            </a:r>
            <a:endParaRPr lang="en-IN" sz="5000" b="1" dirty="0">
              <a:solidFill>
                <a:srgbClr val="0033CC"/>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2547436-FB90-3CF3-1789-4CA5D94DA069}"/>
              </a:ext>
            </a:extLst>
          </p:cNvPr>
          <p:cNvSpPr txBox="1"/>
          <p:nvPr/>
        </p:nvSpPr>
        <p:spPr>
          <a:xfrm>
            <a:off x="1676400" y="1906607"/>
            <a:ext cx="9144000" cy="553998"/>
          </a:xfrm>
          <a:prstGeom prst="rect">
            <a:avLst/>
          </a:prstGeom>
          <a:noFill/>
        </p:spPr>
        <p:txBody>
          <a:bodyPr wrap="square">
            <a:spAutoFit/>
          </a:bodyPr>
          <a:lstStyle/>
          <a:p>
            <a:pPr marL="457200" indent="-457200">
              <a:buFontTx/>
              <a:buChar char="-"/>
            </a:pPr>
            <a:r>
              <a:rPr lang="en-US" sz="3000" b="1" dirty="0">
                <a:latin typeface="Times New Roman" panose="02020603050405020304" pitchFamily="18" charset="0"/>
                <a:cs typeface="Times New Roman" panose="02020603050405020304" pitchFamily="18" charset="0"/>
              </a:rPr>
              <a:t>Home Page of the application</a:t>
            </a:r>
          </a:p>
        </p:txBody>
      </p:sp>
      <p:pic>
        <p:nvPicPr>
          <p:cNvPr id="6" name="Picture 5">
            <a:extLst>
              <a:ext uri="{FF2B5EF4-FFF2-40B4-BE49-F238E27FC236}">
                <a16:creationId xmlns:a16="http://schemas.microsoft.com/office/drawing/2014/main" id="{48E5918B-56DF-8F25-566B-F84A649D32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3800" y="2532113"/>
            <a:ext cx="10210800" cy="5218548"/>
          </a:xfrm>
          <a:prstGeom prst="rect">
            <a:avLst/>
          </a:prstGeom>
        </p:spPr>
      </p:pic>
      <p:sp>
        <p:nvSpPr>
          <p:cNvPr id="8" name="TextBox 7">
            <a:extLst>
              <a:ext uri="{FF2B5EF4-FFF2-40B4-BE49-F238E27FC236}">
                <a16:creationId xmlns:a16="http://schemas.microsoft.com/office/drawing/2014/main" id="{F063030D-A8CB-2049-82DA-86604F1CA86A}"/>
              </a:ext>
            </a:extLst>
          </p:cNvPr>
          <p:cNvSpPr txBox="1"/>
          <p:nvPr/>
        </p:nvSpPr>
        <p:spPr>
          <a:xfrm>
            <a:off x="7848600" y="7990130"/>
            <a:ext cx="9144000" cy="369332"/>
          </a:xfrm>
          <a:prstGeom prst="rect">
            <a:avLst/>
          </a:prstGeom>
          <a:noFill/>
        </p:spPr>
        <p:txBody>
          <a:bodyPr wrap="square">
            <a:spAutoFit/>
          </a:bodyPr>
          <a:lstStyle/>
          <a:p>
            <a:r>
              <a:rPr lang="en-IN" b="1" i="0" dirty="0">
                <a:solidFill>
                  <a:srgbClr val="0D0D0D"/>
                </a:solidFill>
                <a:effectLst/>
                <a:latin typeface="-apple-system-body"/>
              </a:rPr>
              <a:t>Fig-7 : Home Page</a:t>
            </a:r>
            <a:endParaRPr lang="en-IN" b="1" dirty="0"/>
          </a:p>
        </p:txBody>
      </p:sp>
      <p:sp>
        <p:nvSpPr>
          <p:cNvPr id="10" name="TextBox 9">
            <a:extLst>
              <a:ext uri="{FF2B5EF4-FFF2-40B4-BE49-F238E27FC236}">
                <a16:creationId xmlns:a16="http://schemas.microsoft.com/office/drawing/2014/main" id="{C21B78A9-7924-CFB2-A077-AF387DF6C7D2}"/>
              </a:ext>
            </a:extLst>
          </p:cNvPr>
          <p:cNvSpPr txBox="1"/>
          <p:nvPr/>
        </p:nvSpPr>
        <p:spPr>
          <a:xfrm>
            <a:off x="2590800" y="8468500"/>
            <a:ext cx="13563600" cy="2400657"/>
          </a:xfrm>
          <a:prstGeom prst="rect">
            <a:avLst/>
          </a:prstGeom>
          <a:noFill/>
        </p:spPr>
        <p:txBody>
          <a:bodyPr wrap="square">
            <a:spAutoFit/>
          </a:bodyPr>
          <a:lstStyle/>
          <a:p>
            <a:pPr algn="just">
              <a:buNone/>
            </a:pPr>
            <a:r>
              <a:rPr lang="en-US" sz="3000" b="0" dirty="0">
                <a:solidFill>
                  <a:srgbClr val="0D0D0D"/>
                </a:solidFill>
                <a:effectLst/>
                <a:latin typeface="Times New Roman" panose="02020603050405020304" pitchFamily="18" charset="0"/>
                <a:cs typeface="Times New Roman" panose="02020603050405020304" pitchFamily="18" charset="0"/>
              </a:rPr>
              <a:t>The home page provides a user-friendly interface to navigate the system and explore available events. It allows users to quickly access features like event browsing and registration.”</a:t>
            </a:r>
          </a:p>
          <a:p>
            <a:pPr algn="just">
              <a:buNone/>
            </a:pPr>
            <a:r>
              <a:rPr lang="en-US" sz="3000" dirty="0">
                <a:latin typeface="Times New Roman" panose="02020603050405020304" pitchFamily="18" charset="0"/>
                <a:cs typeface="Times New Roman" panose="02020603050405020304" pitchFamily="18" charset="0"/>
              </a:rPr>
              <a:t/>
            </a:r>
            <a:br>
              <a:rPr lang="en-US" sz="3000" dirty="0">
                <a:latin typeface="Times New Roman" panose="02020603050405020304" pitchFamily="18" charset="0"/>
                <a:cs typeface="Times New Roman" panose="02020603050405020304" pitchFamily="18" charset="0"/>
              </a:rPr>
            </a:b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7233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0D9327C-936D-074D-33C9-3EF3BC5A96DF}"/>
              </a:ext>
            </a:extLst>
          </p:cNvPr>
          <p:cNvSpPr txBox="1"/>
          <p:nvPr/>
        </p:nvSpPr>
        <p:spPr>
          <a:xfrm>
            <a:off x="2857500" y="419100"/>
            <a:ext cx="12573000" cy="861774"/>
          </a:xfrm>
          <a:prstGeom prst="rect">
            <a:avLst/>
          </a:prstGeom>
          <a:noFill/>
        </p:spPr>
        <p:txBody>
          <a:bodyPr wrap="square">
            <a:spAutoFit/>
          </a:bodyPr>
          <a:lstStyle/>
          <a:p>
            <a:pPr algn="ctr"/>
            <a:r>
              <a:rPr lang="en-US" sz="5000" b="1" dirty="0">
                <a:solidFill>
                  <a:srgbClr val="0033CC"/>
                </a:solidFill>
                <a:latin typeface="Times New Roman" panose="02020603050405020304" pitchFamily="18" charset="0"/>
                <a:cs typeface="Times New Roman" panose="02020603050405020304" pitchFamily="18" charset="0"/>
              </a:rPr>
              <a:t>IMPLEMENTATION SCREENSHOTS</a:t>
            </a:r>
            <a:endParaRPr lang="en-IN" sz="5000" b="1" dirty="0">
              <a:solidFill>
                <a:srgbClr val="0033CC"/>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5319FB1-0C47-204B-063B-F400E852E7C6}"/>
              </a:ext>
            </a:extLst>
          </p:cNvPr>
          <p:cNvSpPr txBox="1"/>
          <p:nvPr/>
        </p:nvSpPr>
        <p:spPr>
          <a:xfrm>
            <a:off x="1143000" y="1790700"/>
            <a:ext cx="9144000" cy="553998"/>
          </a:xfrm>
          <a:prstGeom prst="rect">
            <a:avLst/>
          </a:prstGeom>
          <a:noFill/>
        </p:spPr>
        <p:txBody>
          <a:bodyPr wrap="square">
            <a:spAutoFit/>
          </a:bodyPr>
          <a:lstStyle/>
          <a:p>
            <a:pPr marL="457200" indent="-457200">
              <a:buFontTx/>
              <a:buChar char="-"/>
            </a:pPr>
            <a:r>
              <a:rPr lang="en-US" sz="3000" dirty="0">
                <a:latin typeface="Times New Roman" panose="02020603050405020304" pitchFamily="18" charset="0"/>
                <a:cs typeface="Times New Roman" panose="02020603050405020304" pitchFamily="18" charset="0"/>
              </a:rPr>
              <a:t>Admin Login Page</a:t>
            </a:r>
          </a:p>
        </p:txBody>
      </p:sp>
      <p:cxnSp>
        <p:nvCxnSpPr>
          <p:cNvPr id="10" name="Straight Connector 9">
            <a:extLst>
              <a:ext uri="{FF2B5EF4-FFF2-40B4-BE49-F238E27FC236}">
                <a16:creationId xmlns:a16="http://schemas.microsoft.com/office/drawing/2014/main" id="{4A3F505B-39A5-8966-A307-2058B8D70955}"/>
              </a:ext>
            </a:extLst>
          </p:cNvPr>
          <p:cNvCxnSpPr/>
          <p:nvPr/>
        </p:nvCxnSpPr>
        <p:spPr>
          <a:xfrm>
            <a:off x="9144000" y="1790700"/>
            <a:ext cx="152400" cy="7038201"/>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C591BEB-CCDF-6C43-EAC6-97E060C49C13}"/>
              </a:ext>
            </a:extLst>
          </p:cNvPr>
          <p:cNvSpPr txBox="1"/>
          <p:nvPr/>
        </p:nvSpPr>
        <p:spPr>
          <a:xfrm>
            <a:off x="10230825" y="1790700"/>
            <a:ext cx="9144000" cy="553998"/>
          </a:xfrm>
          <a:prstGeom prst="rect">
            <a:avLst/>
          </a:prstGeom>
          <a:noFill/>
        </p:spPr>
        <p:txBody>
          <a:bodyPr wrap="square">
            <a:spAutoFit/>
          </a:bodyPr>
          <a:lstStyle/>
          <a:p>
            <a:pPr marL="457200" indent="-457200">
              <a:buFontTx/>
              <a:buChar char="-"/>
            </a:pPr>
            <a:r>
              <a:rPr lang="en-US" sz="3000" dirty="0">
                <a:latin typeface="Times New Roman" panose="02020603050405020304" pitchFamily="18" charset="0"/>
                <a:cs typeface="Times New Roman" panose="02020603050405020304" pitchFamily="18" charset="0"/>
              </a:rPr>
              <a:t>User Login Page</a:t>
            </a:r>
          </a:p>
        </p:txBody>
      </p:sp>
      <p:pic>
        <p:nvPicPr>
          <p:cNvPr id="13" name="Picture 12">
            <a:extLst>
              <a:ext uri="{FF2B5EF4-FFF2-40B4-BE49-F238E27FC236}">
                <a16:creationId xmlns:a16="http://schemas.microsoft.com/office/drawing/2014/main" id="{0AF5A1DC-F8EF-807E-AF9A-D34CC58E65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375" y="2873575"/>
            <a:ext cx="6857025" cy="3860158"/>
          </a:xfrm>
          <a:prstGeom prst="rect">
            <a:avLst/>
          </a:prstGeom>
        </p:spPr>
      </p:pic>
      <p:pic>
        <p:nvPicPr>
          <p:cNvPr id="16" name="Picture 15">
            <a:extLst>
              <a:ext uri="{FF2B5EF4-FFF2-40B4-BE49-F238E27FC236}">
                <a16:creationId xmlns:a16="http://schemas.microsoft.com/office/drawing/2014/main" id="{F5AABD25-B039-89A9-CFAA-D1105C5E2355}"/>
              </a:ext>
            </a:extLst>
          </p:cNvPr>
          <p:cNvPicPr>
            <a:picLocks noChangeAspect="1"/>
          </p:cNvPicPr>
          <p:nvPr/>
        </p:nvPicPr>
        <p:blipFill>
          <a:blip r:embed="rId3"/>
          <a:stretch>
            <a:fillRect/>
          </a:stretch>
        </p:blipFill>
        <p:spPr>
          <a:xfrm>
            <a:off x="712642" y="2854523"/>
            <a:ext cx="7135959" cy="3879209"/>
          </a:xfrm>
          <a:prstGeom prst="rect">
            <a:avLst/>
          </a:prstGeom>
        </p:spPr>
      </p:pic>
      <p:sp>
        <p:nvSpPr>
          <p:cNvPr id="18" name="TextBox 17">
            <a:extLst>
              <a:ext uri="{FF2B5EF4-FFF2-40B4-BE49-F238E27FC236}">
                <a16:creationId xmlns:a16="http://schemas.microsoft.com/office/drawing/2014/main" id="{F8207310-F493-44EB-474F-AE0E435E9A05}"/>
              </a:ext>
            </a:extLst>
          </p:cNvPr>
          <p:cNvSpPr txBox="1"/>
          <p:nvPr/>
        </p:nvSpPr>
        <p:spPr>
          <a:xfrm>
            <a:off x="3005139" y="7077943"/>
            <a:ext cx="9686924" cy="369332"/>
          </a:xfrm>
          <a:prstGeom prst="rect">
            <a:avLst/>
          </a:prstGeom>
          <a:noFill/>
        </p:spPr>
        <p:txBody>
          <a:bodyPr wrap="square">
            <a:spAutoFit/>
          </a:bodyPr>
          <a:lstStyle/>
          <a:p>
            <a:r>
              <a:rPr lang="en-IN" b="1" i="0" dirty="0">
                <a:solidFill>
                  <a:srgbClr val="0D0D0D"/>
                </a:solidFill>
                <a:effectLst/>
                <a:latin typeface="-apple-system-body"/>
              </a:rPr>
              <a:t>Fig-8  : </a:t>
            </a:r>
            <a:r>
              <a:rPr lang="en-IN" b="1" dirty="0">
                <a:solidFill>
                  <a:srgbClr val="0D0D0D"/>
                </a:solidFill>
                <a:latin typeface="-apple-system-body"/>
              </a:rPr>
              <a:t>Admin Login Page</a:t>
            </a:r>
            <a:endParaRPr lang="en-IN" b="1" dirty="0"/>
          </a:p>
        </p:txBody>
      </p:sp>
      <p:sp>
        <p:nvSpPr>
          <p:cNvPr id="20" name="TextBox 19">
            <a:extLst>
              <a:ext uri="{FF2B5EF4-FFF2-40B4-BE49-F238E27FC236}">
                <a16:creationId xmlns:a16="http://schemas.microsoft.com/office/drawing/2014/main" id="{F5D2DDE8-E874-56D2-2E7E-D66E5959F12A}"/>
              </a:ext>
            </a:extLst>
          </p:cNvPr>
          <p:cNvSpPr txBox="1"/>
          <p:nvPr/>
        </p:nvSpPr>
        <p:spPr>
          <a:xfrm>
            <a:off x="12453938" y="7055214"/>
            <a:ext cx="9686924" cy="369332"/>
          </a:xfrm>
          <a:prstGeom prst="rect">
            <a:avLst/>
          </a:prstGeom>
          <a:noFill/>
        </p:spPr>
        <p:txBody>
          <a:bodyPr wrap="square">
            <a:spAutoFit/>
          </a:bodyPr>
          <a:lstStyle/>
          <a:p>
            <a:r>
              <a:rPr lang="en-IN" b="1" i="0" dirty="0">
                <a:solidFill>
                  <a:srgbClr val="0D0D0D"/>
                </a:solidFill>
                <a:effectLst/>
                <a:latin typeface="-apple-system-body"/>
              </a:rPr>
              <a:t>Fig-9 : </a:t>
            </a:r>
            <a:r>
              <a:rPr lang="en-IN" b="1" dirty="0">
                <a:solidFill>
                  <a:srgbClr val="0D0D0D"/>
                </a:solidFill>
                <a:latin typeface="-apple-system-body"/>
              </a:rPr>
              <a:t>User Login Page</a:t>
            </a:r>
            <a:endParaRPr lang="en-IN" b="1" dirty="0"/>
          </a:p>
        </p:txBody>
      </p:sp>
    </p:spTree>
    <p:extLst>
      <p:ext uri="{BB962C8B-B14F-4D97-AF65-F5344CB8AC3E}">
        <p14:creationId xmlns:p14="http://schemas.microsoft.com/office/powerpoint/2010/main" val="1769148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89CD5C-76DC-F6FD-A1D7-4A0AC35D47F5}"/>
              </a:ext>
            </a:extLst>
          </p:cNvPr>
          <p:cNvSpPr txBox="1"/>
          <p:nvPr/>
        </p:nvSpPr>
        <p:spPr>
          <a:xfrm>
            <a:off x="3048000" y="571500"/>
            <a:ext cx="12192000" cy="861774"/>
          </a:xfrm>
          <a:prstGeom prst="rect">
            <a:avLst/>
          </a:prstGeom>
          <a:noFill/>
        </p:spPr>
        <p:txBody>
          <a:bodyPr wrap="square">
            <a:spAutoFit/>
          </a:bodyPr>
          <a:lstStyle/>
          <a:p>
            <a:pPr algn="ctr"/>
            <a:r>
              <a:rPr lang="en-US" sz="5000" b="1" dirty="0">
                <a:solidFill>
                  <a:srgbClr val="0033CC"/>
                </a:solidFill>
                <a:latin typeface="Times New Roman" panose="02020603050405020304" pitchFamily="18" charset="0"/>
                <a:cs typeface="Times New Roman" panose="02020603050405020304" pitchFamily="18" charset="0"/>
              </a:rPr>
              <a:t>IMPLEMENTATION SCREENSHOTS</a:t>
            </a:r>
            <a:endParaRPr lang="en-IN" sz="5000" b="1" dirty="0">
              <a:solidFill>
                <a:srgbClr val="0033CC"/>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733B7A2-7290-E13A-2113-7054C775B802}"/>
              </a:ext>
            </a:extLst>
          </p:cNvPr>
          <p:cNvSpPr txBox="1"/>
          <p:nvPr/>
        </p:nvSpPr>
        <p:spPr>
          <a:xfrm>
            <a:off x="1676400" y="1705689"/>
            <a:ext cx="9144000" cy="553998"/>
          </a:xfrm>
          <a:prstGeom prst="rect">
            <a:avLst/>
          </a:prstGeom>
          <a:noFill/>
        </p:spPr>
        <p:txBody>
          <a:bodyPr wrap="square">
            <a:spAutoFit/>
          </a:bodyPr>
          <a:lstStyle/>
          <a:p>
            <a:pPr marL="457200" indent="-457200">
              <a:buFont typeface="Wingdings" panose="05000000000000000000" pitchFamily="2" charset="2"/>
              <a:buChar char="§"/>
            </a:pPr>
            <a:r>
              <a:rPr lang="en-US" sz="3000" b="1" dirty="0">
                <a:latin typeface="Times New Roman" panose="02020603050405020304" pitchFamily="18" charset="0"/>
                <a:cs typeface="Times New Roman" panose="02020603050405020304" pitchFamily="18" charset="0"/>
              </a:rPr>
              <a:t>Module 1 : </a:t>
            </a:r>
            <a:r>
              <a:rPr lang="en-IN" sz="3000" dirty="0">
                <a:latin typeface="Times New Roman" panose="02020603050405020304" pitchFamily="18" charset="0"/>
                <a:cs typeface="Times New Roman" panose="02020603050405020304" pitchFamily="18" charset="0"/>
              </a:rPr>
              <a:t>User Authentication</a:t>
            </a:r>
            <a:r>
              <a:rPr lang="en-US" sz="3000" dirty="0">
                <a:latin typeface="Times New Roman" panose="02020603050405020304" pitchFamily="18" charset="0"/>
                <a:cs typeface="Times New Roman" panose="02020603050405020304" pitchFamily="18" charset="0"/>
              </a:rPr>
              <a:t> </a:t>
            </a:r>
            <a:endParaRPr lang="en-IN" sz="3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79AA52E-1855-1258-2B08-97AF360F2C07}"/>
              </a:ext>
            </a:extLst>
          </p:cNvPr>
          <p:cNvPicPr>
            <a:picLocks noChangeAspect="1"/>
          </p:cNvPicPr>
          <p:nvPr/>
        </p:nvPicPr>
        <p:blipFill>
          <a:blip r:embed="rId2"/>
          <a:stretch>
            <a:fillRect/>
          </a:stretch>
        </p:blipFill>
        <p:spPr>
          <a:xfrm>
            <a:off x="3657600" y="2297787"/>
            <a:ext cx="10515600" cy="4919117"/>
          </a:xfrm>
          <a:prstGeom prst="rect">
            <a:avLst/>
          </a:prstGeom>
        </p:spPr>
      </p:pic>
      <p:sp>
        <p:nvSpPr>
          <p:cNvPr id="9" name="TextBox 8">
            <a:extLst>
              <a:ext uri="{FF2B5EF4-FFF2-40B4-BE49-F238E27FC236}">
                <a16:creationId xmlns:a16="http://schemas.microsoft.com/office/drawing/2014/main" id="{88159EEF-B145-1289-E247-449635ADA337}"/>
              </a:ext>
            </a:extLst>
          </p:cNvPr>
          <p:cNvSpPr txBox="1"/>
          <p:nvPr/>
        </p:nvSpPr>
        <p:spPr>
          <a:xfrm>
            <a:off x="7391400" y="7581781"/>
            <a:ext cx="9144000" cy="369332"/>
          </a:xfrm>
          <a:prstGeom prst="rect">
            <a:avLst/>
          </a:prstGeom>
          <a:noFill/>
        </p:spPr>
        <p:txBody>
          <a:bodyPr wrap="square">
            <a:spAutoFit/>
          </a:bodyPr>
          <a:lstStyle/>
          <a:p>
            <a:r>
              <a:rPr lang="en-IN" b="1" i="0" dirty="0">
                <a:solidFill>
                  <a:srgbClr val="0D0D0D"/>
                </a:solidFill>
                <a:effectLst/>
                <a:latin typeface="-apple-system-body"/>
              </a:rPr>
              <a:t>Fig- 10: User Authentication</a:t>
            </a:r>
            <a:endParaRPr lang="en-IN" b="1" dirty="0"/>
          </a:p>
        </p:txBody>
      </p:sp>
      <p:sp>
        <p:nvSpPr>
          <p:cNvPr id="11" name="TextBox 10">
            <a:extLst>
              <a:ext uri="{FF2B5EF4-FFF2-40B4-BE49-F238E27FC236}">
                <a16:creationId xmlns:a16="http://schemas.microsoft.com/office/drawing/2014/main" id="{1AFBC737-E89F-CDA5-91A5-35A937983FF0}"/>
              </a:ext>
            </a:extLst>
          </p:cNvPr>
          <p:cNvSpPr txBox="1"/>
          <p:nvPr/>
        </p:nvSpPr>
        <p:spPr>
          <a:xfrm>
            <a:off x="2667000" y="8238172"/>
            <a:ext cx="13868400" cy="1477328"/>
          </a:xfrm>
          <a:prstGeom prst="rect">
            <a:avLst/>
          </a:prstGeom>
          <a:noFill/>
        </p:spPr>
        <p:txBody>
          <a:bodyPr wrap="square">
            <a:spAutoFit/>
          </a:bodyPr>
          <a:lstStyle/>
          <a:p>
            <a:pPr algn="just"/>
            <a:r>
              <a:rPr lang="en-US" sz="3000" b="0" i="0" dirty="0">
                <a:solidFill>
                  <a:srgbClr val="0D0D0D"/>
                </a:solidFill>
                <a:effectLst/>
                <a:latin typeface="Times New Roman" panose="02020603050405020304" pitchFamily="18" charset="0"/>
                <a:cs typeface="Times New Roman" panose="02020603050405020304" pitchFamily="18" charset="0"/>
              </a:rPr>
              <a:t>This module manages user registration and login functionality. It ensures secure access using authentication mechanisms and verifies user credentials before allowing access. It also maintains user sessions after successful login.</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1243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2EBF1E-B697-7FC6-DC14-C1AB7101782B}"/>
              </a:ext>
            </a:extLst>
          </p:cNvPr>
          <p:cNvPicPr>
            <a:picLocks noChangeAspect="1"/>
          </p:cNvPicPr>
          <p:nvPr/>
        </p:nvPicPr>
        <p:blipFill>
          <a:blip r:embed="rId2"/>
          <a:stretch>
            <a:fillRect/>
          </a:stretch>
        </p:blipFill>
        <p:spPr>
          <a:xfrm>
            <a:off x="3466573" y="1993659"/>
            <a:ext cx="11354853" cy="5376351"/>
          </a:xfrm>
          <a:prstGeom prst="rect">
            <a:avLst/>
          </a:prstGeom>
        </p:spPr>
      </p:pic>
      <p:sp>
        <p:nvSpPr>
          <p:cNvPr id="5" name="TextBox 4">
            <a:extLst>
              <a:ext uri="{FF2B5EF4-FFF2-40B4-BE49-F238E27FC236}">
                <a16:creationId xmlns:a16="http://schemas.microsoft.com/office/drawing/2014/main" id="{E7B42932-8A5D-B42E-9AF9-EEE4C0DDFE83}"/>
              </a:ext>
            </a:extLst>
          </p:cNvPr>
          <p:cNvSpPr txBox="1"/>
          <p:nvPr/>
        </p:nvSpPr>
        <p:spPr>
          <a:xfrm>
            <a:off x="3164406" y="376749"/>
            <a:ext cx="12420600" cy="861774"/>
          </a:xfrm>
          <a:prstGeom prst="rect">
            <a:avLst/>
          </a:prstGeom>
          <a:noFill/>
        </p:spPr>
        <p:txBody>
          <a:bodyPr wrap="square">
            <a:spAutoFit/>
          </a:bodyPr>
          <a:lstStyle/>
          <a:p>
            <a:pPr algn="ctr"/>
            <a:r>
              <a:rPr lang="en-US" sz="5000" b="1" dirty="0">
                <a:solidFill>
                  <a:srgbClr val="0033CC"/>
                </a:solidFill>
                <a:latin typeface="Times New Roman" panose="02020603050405020304" pitchFamily="18" charset="0"/>
                <a:cs typeface="Times New Roman" panose="02020603050405020304" pitchFamily="18" charset="0"/>
              </a:rPr>
              <a:t>IMPLEMENTATION SCREENSHOTS</a:t>
            </a:r>
            <a:endParaRPr lang="en-IN" sz="5000" b="1" dirty="0">
              <a:solidFill>
                <a:srgbClr val="0033CC"/>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EA10A56-8D8F-D37C-969D-970CC664ADB4}"/>
              </a:ext>
            </a:extLst>
          </p:cNvPr>
          <p:cNvSpPr txBox="1"/>
          <p:nvPr/>
        </p:nvSpPr>
        <p:spPr>
          <a:xfrm>
            <a:off x="1981200" y="1219473"/>
            <a:ext cx="9144000" cy="553998"/>
          </a:xfrm>
          <a:prstGeom prst="rect">
            <a:avLst/>
          </a:prstGeom>
          <a:noFill/>
        </p:spPr>
        <p:txBody>
          <a:bodyPr wrap="square">
            <a:spAutoFit/>
          </a:bodyPr>
          <a:lstStyle/>
          <a:p>
            <a:pPr marL="457200" indent="-457200" algn="l">
              <a:spcAft>
                <a:spcPts val="300"/>
              </a:spcAft>
              <a:buFont typeface="Wingdings" panose="05000000000000000000" pitchFamily="2" charset="2"/>
              <a:buChar char="§"/>
            </a:pPr>
            <a:r>
              <a:rPr lang="en-IN" sz="3000" b="1" i="0" dirty="0">
                <a:solidFill>
                  <a:srgbClr val="0D0D0D"/>
                </a:solidFill>
                <a:effectLst/>
                <a:latin typeface="Times New Roman" panose="02020603050405020304" pitchFamily="18" charset="0"/>
                <a:cs typeface="Times New Roman" panose="02020603050405020304" pitchFamily="18" charset="0"/>
              </a:rPr>
              <a:t>Module 2: Event Management</a:t>
            </a:r>
          </a:p>
        </p:txBody>
      </p:sp>
      <p:sp>
        <p:nvSpPr>
          <p:cNvPr id="9" name="TextBox 8">
            <a:extLst>
              <a:ext uri="{FF2B5EF4-FFF2-40B4-BE49-F238E27FC236}">
                <a16:creationId xmlns:a16="http://schemas.microsoft.com/office/drawing/2014/main" id="{90767661-C3BB-9D32-C785-4666127C1192}"/>
              </a:ext>
            </a:extLst>
          </p:cNvPr>
          <p:cNvSpPr txBox="1"/>
          <p:nvPr/>
        </p:nvSpPr>
        <p:spPr>
          <a:xfrm>
            <a:off x="7391400" y="7765374"/>
            <a:ext cx="9144000" cy="369332"/>
          </a:xfrm>
          <a:prstGeom prst="rect">
            <a:avLst/>
          </a:prstGeom>
          <a:noFill/>
        </p:spPr>
        <p:txBody>
          <a:bodyPr wrap="square">
            <a:spAutoFit/>
          </a:bodyPr>
          <a:lstStyle/>
          <a:p>
            <a:r>
              <a:rPr lang="en-IN" b="1" i="0" dirty="0">
                <a:solidFill>
                  <a:srgbClr val="0D0D0D"/>
                </a:solidFill>
                <a:effectLst/>
                <a:latin typeface="-apple-system-body"/>
              </a:rPr>
              <a:t>Fig- 11: </a:t>
            </a:r>
            <a:r>
              <a:rPr lang="en-IN" b="1" dirty="0">
                <a:solidFill>
                  <a:srgbClr val="0D0D0D"/>
                </a:solidFill>
                <a:latin typeface="Times New Roman" panose="02020603050405020304" pitchFamily="18" charset="0"/>
                <a:cs typeface="Times New Roman" panose="02020603050405020304" pitchFamily="18" charset="0"/>
              </a:rPr>
              <a:t>Event Management</a:t>
            </a:r>
            <a:r>
              <a:rPr lang="en-IN" b="1" i="0" dirty="0">
                <a:solidFill>
                  <a:srgbClr val="0D0D0D"/>
                </a:solidFill>
                <a:effectLst/>
                <a:latin typeface="-apple-system-body"/>
              </a:rPr>
              <a:t> </a:t>
            </a:r>
            <a:endParaRPr lang="en-IN" b="1" dirty="0"/>
          </a:p>
        </p:txBody>
      </p:sp>
      <p:sp>
        <p:nvSpPr>
          <p:cNvPr id="11" name="TextBox 10">
            <a:extLst>
              <a:ext uri="{FF2B5EF4-FFF2-40B4-BE49-F238E27FC236}">
                <a16:creationId xmlns:a16="http://schemas.microsoft.com/office/drawing/2014/main" id="{8BBEA97E-D21B-3EFD-047A-C1514CD4F805}"/>
              </a:ext>
            </a:extLst>
          </p:cNvPr>
          <p:cNvSpPr txBox="1"/>
          <p:nvPr/>
        </p:nvSpPr>
        <p:spPr>
          <a:xfrm>
            <a:off x="2438400" y="8328863"/>
            <a:ext cx="14401800" cy="1477328"/>
          </a:xfrm>
          <a:prstGeom prst="rect">
            <a:avLst/>
          </a:prstGeom>
          <a:noFill/>
        </p:spPr>
        <p:txBody>
          <a:bodyPr wrap="square">
            <a:spAutoFit/>
          </a:bodyPr>
          <a:lstStyle/>
          <a:p>
            <a:pPr algn="just"/>
            <a:r>
              <a:rPr lang="en-US" sz="3000" b="0" i="0" dirty="0">
                <a:solidFill>
                  <a:srgbClr val="0D0D0D"/>
                </a:solidFill>
                <a:effectLst/>
                <a:latin typeface="Times New Roman" panose="02020603050405020304" pitchFamily="18" charset="0"/>
                <a:cs typeface="Times New Roman" panose="02020603050405020304" pitchFamily="18" charset="0"/>
              </a:rPr>
              <a:t>This module handles the creation, updating, and deletion of events by the administrator. It allows users to browse available events and view event details. It ensures proper organization and management of all event-related data.</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0676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9D034D-D434-BA09-4F7B-D68F2EF2D5FD}"/>
              </a:ext>
            </a:extLst>
          </p:cNvPr>
          <p:cNvSpPr txBox="1"/>
          <p:nvPr/>
        </p:nvSpPr>
        <p:spPr>
          <a:xfrm>
            <a:off x="2514600" y="571500"/>
            <a:ext cx="12877800" cy="861774"/>
          </a:xfrm>
          <a:prstGeom prst="rect">
            <a:avLst/>
          </a:prstGeom>
          <a:noFill/>
        </p:spPr>
        <p:txBody>
          <a:bodyPr wrap="square">
            <a:spAutoFit/>
          </a:bodyPr>
          <a:lstStyle/>
          <a:p>
            <a:pPr algn="ctr"/>
            <a:r>
              <a:rPr lang="en-US" sz="5000" b="1" dirty="0">
                <a:solidFill>
                  <a:srgbClr val="0033CC"/>
                </a:solidFill>
                <a:latin typeface="Times New Roman" panose="02020603050405020304" pitchFamily="18" charset="0"/>
                <a:cs typeface="Times New Roman" panose="02020603050405020304" pitchFamily="18" charset="0"/>
              </a:rPr>
              <a:t>IMPLEMENTATION SCREENSHOTS</a:t>
            </a:r>
            <a:endParaRPr lang="en-IN" sz="5000" b="1" dirty="0">
              <a:solidFill>
                <a:srgbClr val="0033CC"/>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6967F80-A58C-F27E-CAC6-25AE7BDE15C2}"/>
              </a:ext>
            </a:extLst>
          </p:cNvPr>
          <p:cNvSpPr txBox="1"/>
          <p:nvPr/>
        </p:nvSpPr>
        <p:spPr>
          <a:xfrm>
            <a:off x="1524000" y="1638300"/>
            <a:ext cx="9144000" cy="553998"/>
          </a:xfrm>
          <a:prstGeom prst="rect">
            <a:avLst/>
          </a:prstGeom>
          <a:noFill/>
        </p:spPr>
        <p:txBody>
          <a:bodyPr wrap="square">
            <a:spAutoFit/>
          </a:bodyPr>
          <a:lstStyle/>
          <a:p>
            <a:pPr marL="457200" indent="-457200" algn="l">
              <a:spcAft>
                <a:spcPts val="300"/>
              </a:spcAft>
              <a:buFont typeface="Wingdings" panose="05000000000000000000" pitchFamily="2" charset="2"/>
              <a:buChar char="§"/>
            </a:pPr>
            <a:r>
              <a:rPr lang="en-IN" sz="3000" b="1" i="0" dirty="0">
                <a:solidFill>
                  <a:srgbClr val="0D0D0D"/>
                </a:solidFill>
                <a:effectLst/>
                <a:latin typeface="Times New Roman" panose="02020603050405020304" pitchFamily="18" charset="0"/>
                <a:cs typeface="Times New Roman" panose="02020603050405020304" pitchFamily="18" charset="0"/>
              </a:rPr>
              <a:t>Module 3: Registration &amp; Ticket Generation</a:t>
            </a:r>
          </a:p>
        </p:txBody>
      </p:sp>
      <p:pic>
        <p:nvPicPr>
          <p:cNvPr id="7" name="Picture 6">
            <a:extLst>
              <a:ext uri="{FF2B5EF4-FFF2-40B4-BE49-F238E27FC236}">
                <a16:creationId xmlns:a16="http://schemas.microsoft.com/office/drawing/2014/main" id="{F16827D5-61FE-E9CF-7B12-36E9E748ADD9}"/>
              </a:ext>
            </a:extLst>
          </p:cNvPr>
          <p:cNvPicPr>
            <a:picLocks noChangeAspect="1"/>
          </p:cNvPicPr>
          <p:nvPr/>
        </p:nvPicPr>
        <p:blipFill>
          <a:blip r:embed="rId2"/>
          <a:stretch>
            <a:fillRect/>
          </a:stretch>
        </p:blipFill>
        <p:spPr>
          <a:xfrm>
            <a:off x="3352800" y="2416374"/>
            <a:ext cx="9372600" cy="4733817"/>
          </a:xfrm>
          <a:prstGeom prst="rect">
            <a:avLst/>
          </a:prstGeom>
        </p:spPr>
      </p:pic>
      <p:sp>
        <p:nvSpPr>
          <p:cNvPr id="9" name="TextBox 8">
            <a:extLst>
              <a:ext uri="{FF2B5EF4-FFF2-40B4-BE49-F238E27FC236}">
                <a16:creationId xmlns:a16="http://schemas.microsoft.com/office/drawing/2014/main" id="{6C342B68-9B97-E524-0BA7-688ADC52505F}"/>
              </a:ext>
            </a:extLst>
          </p:cNvPr>
          <p:cNvSpPr txBox="1"/>
          <p:nvPr/>
        </p:nvSpPr>
        <p:spPr>
          <a:xfrm>
            <a:off x="6553200" y="7412367"/>
            <a:ext cx="9144000" cy="369332"/>
          </a:xfrm>
          <a:prstGeom prst="rect">
            <a:avLst/>
          </a:prstGeom>
          <a:noFill/>
        </p:spPr>
        <p:txBody>
          <a:bodyPr wrap="square">
            <a:spAutoFit/>
          </a:bodyPr>
          <a:lstStyle/>
          <a:p>
            <a:r>
              <a:rPr lang="en-IN" b="1" i="0" dirty="0">
                <a:solidFill>
                  <a:srgbClr val="0D0D0D"/>
                </a:solidFill>
                <a:effectLst/>
                <a:latin typeface="-apple-system-body"/>
              </a:rPr>
              <a:t>Fig- 12: </a:t>
            </a:r>
            <a:r>
              <a:rPr lang="en-IN" b="1" dirty="0">
                <a:solidFill>
                  <a:srgbClr val="0D0D0D"/>
                </a:solidFill>
                <a:latin typeface="Times New Roman" panose="02020603050405020304" pitchFamily="18" charset="0"/>
                <a:cs typeface="Times New Roman" panose="02020603050405020304" pitchFamily="18" charset="0"/>
              </a:rPr>
              <a:t>Registration &amp; Ticket Generation</a:t>
            </a:r>
            <a:endParaRPr lang="en-IN" b="1" dirty="0"/>
          </a:p>
        </p:txBody>
      </p:sp>
      <p:sp>
        <p:nvSpPr>
          <p:cNvPr id="11" name="TextBox 10">
            <a:extLst>
              <a:ext uri="{FF2B5EF4-FFF2-40B4-BE49-F238E27FC236}">
                <a16:creationId xmlns:a16="http://schemas.microsoft.com/office/drawing/2014/main" id="{970C37DE-14D1-D8CE-8E05-6732FE281DBD}"/>
              </a:ext>
            </a:extLst>
          </p:cNvPr>
          <p:cNvSpPr txBox="1"/>
          <p:nvPr/>
        </p:nvSpPr>
        <p:spPr>
          <a:xfrm>
            <a:off x="2057400" y="8152341"/>
            <a:ext cx="13639800" cy="1477328"/>
          </a:xfrm>
          <a:prstGeom prst="rect">
            <a:avLst/>
          </a:prstGeom>
          <a:noFill/>
        </p:spPr>
        <p:txBody>
          <a:bodyPr wrap="square">
            <a:spAutoFit/>
          </a:bodyPr>
          <a:lstStyle/>
          <a:p>
            <a:pPr algn="just"/>
            <a:r>
              <a:rPr lang="en-US" sz="3000" b="0" i="0" dirty="0">
                <a:solidFill>
                  <a:srgbClr val="0D0D0D"/>
                </a:solidFill>
                <a:effectLst/>
                <a:latin typeface="Times New Roman" panose="02020603050405020304" pitchFamily="18" charset="0"/>
                <a:cs typeface="Times New Roman" panose="02020603050405020304" pitchFamily="18" charset="0"/>
              </a:rPr>
              <a:t>This module enables users to register for events by providing required details. After successful registration, the system confirms the booking and generates a PDF ticket. It simplifies the booking process and ensures proper record management.</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9159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B39079-25F5-2609-5DA4-BE3FDD987DCE}"/>
              </a:ext>
            </a:extLst>
          </p:cNvPr>
          <p:cNvSpPr txBox="1"/>
          <p:nvPr/>
        </p:nvSpPr>
        <p:spPr>
          <a:xfrm>
            <a:off x="2971800" y="571500"/>
            <a:ext cx="12344400" cy="861774"/>
          </a:xfrm>
          <a:prstGeom prst="rect">
            <a:avLst/>
          </a:prstGeom>
          <a:noFill/>
        </p:spPr>
        <p:txBody>
          <a:bodyPr wrap="square">
            <a:spAutoFit/>
          </a:bodyPr>
          <a:lstStyle/>
          <a:p>
            <a:pPr algn="ctr"/>
            <a:r>
              <a:rPr lang="en-US" sz="5000" b="1" dirty="0">
                <a:solidFill>
                  <a:srgbClr val="0033CC"/>
                </a:solidFill>
                <a:latin typeface="Times New Roman" panose="02020603050405020304" pitchFamily="18" charset="0"/>
                <a:cs typeface="Times New Roman" panose="02020603050405020304" pitchFamily="18" charset="0"/>
              </a:rPr>
              <a:t>IMPLEMENTATION SCREENSHOTS</a:t>
            </a:r>
            <a:endParaRPr lang="en-IN" sz="5000" b="1" dirty="0">
              <a:solidFill>
                <a:srgbClr val="0033CC"/>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F866ECB-CCF4-13B1-17B3-A4FFB7C238E2}"/>
              </a:ext>
            </a:extLst>
          </p:cNvPr>
          <p:cNvSpPr txBox="1"/>
          <p:nvPr/>
        </p:nvSpPr>
        <p:spPr>
          <a:xfrm>
            <a:off x="1524000" y="1562100"/>
            <a:ext cx="9144000" cy="553998"/>
          </a:xfrm>
          <a:prstGeom prst="rect">
            <a:avLst/>
          </a:prstGeom>
          <a:noFill/>
        </p:spPr>
        <p:txBody>
          <a:bodyPr wrap="square">
            <a:spAutoFit/>
          </a:bodyPr>
          <a:lstStyle/>
          <a:p>
            <a:pPr marL="457200" indent="-457200" algn="l">
              <a:spcAft>
                <a:spcPts val="300"/>
              </a:spcAft>
              <a:buFont typeface="Wingdings" panose="05000000000000000000" pitchFamily="2" charset="2"/>
              <a:buChar char="§"/>
            </a:pPr>
            <a:r>
              <a:rPr lang="en-IN" sz="3000" b="1" i="0" dirty="0">
                <a:solidFill>
                  <a:srgbClr val="0D0D0D"/>
                </a:solidFill>
                <a:effectLst/>
                <a:latin typeface="Times New Roman" panose="02020603050405020304" pitchFamily="18" charset="0"/>
                <a:cs typeface="Times New Roman" panose="02020603050405020304" pitchFamily="18" charset="0"/>
              </a:rPr>
              <a:t>Module 4: Admin Dashboard</a:t>
            </a:r>
          </a:p>
        </p:txBody>
      </p:sp>
      <p:pic>
        <p:nvPicPr>
          <p:cNvPr id="7" name="Picture 6">
            <a:extLst>
              <a:ext uri="{FF2B5EF4-FFF2-40B4-BE49-F238E27FC236}">
                <a16:creationId xmlns:a16="http://schemas.microsoft.com/office/drawing/2014/main" id="{BB59F782-546E-0186-D32E-7ACE824BEC08}"/>
              </a:ext>
            </a:extLst>
          </p:cNvPr>
          <p:cNvPicPr>
            <a:picLocks noChangeAspect="1"/>
          </p:cNvPicPr>
          <p:nvPr/>
        </p:nvPicPr>
        <p:blipFill>
          <a:blip r:embed="rId2"/>
          <a:stretch>
            <a:fillRect/>
          </a:stretch>
        </p:blipFill>
        <p:spPr>
          <a:xfrm>
            <a:off x="3657600" y="2400300"/>
            <a:ext cx="9364127" cy="4403862"/>
          </a:xfrm>
          <a:prstGeom prst="rect">
            <a:avLst/>
          </a:prstGeom>
        </p:spPr>
      </p:pic>
      <p:sp>
        <p:nvSpPr>
          <p:cNvPr id="9" name="TextBox 8">
            <a:extLst>
              <a:ext uri="{FF2B5EF4-FFF2-40B4-BE49-F238E27FC236}">
                <a16:creationId xmlns:a16="http://schemas.microsoft.com/office/drawing/2014/main" id="{C7EF5D8C-5305-E6AE-34AB-5F822E3E65A3}"/>
              </a:ext>
            </a:extLst>
          </p:cNvPr>
          <p:cNvSpPr txBox="1"/>
          <p:nvPr/>
        </p:nvSpPr>
        <p:spPr>
          <a:xfrm>
            <a:off x="6629400" y="7088364"/>
            <a:ext cx="9144000" cy="369332"/>
          </a:xfrm>
          <a:prstGeom prst="rect">
            <a:avLst/>
          </a:prstGeom>
          <a:noFill/>
        </p:spPr>
        <p:txBody>
          <a:bodyPr wrap="square">
            <a:spAutoFit/>
          </a:bodyPr>
          <a:lstStyle/>
          <a:p>
            <a:r>
              <a:rPr lang="en-IN" b="1" i="0" dirty="0">
                <a:solidFill>
                  <a:srgbClr val="0D0D0D"/>
                </a:solidFill>
                <a:effectLst/>
                <a:latin typeface="-apple-system-body"/>
              </a:rPr>
              <a:t>Fig- 13 :  </a:t>
            </a:r>
            <a:r>
              <a:rPr lang="en-IN" b="1" dirty="0">
                <a:solidFill>
                  <a:srgbClr val="0D0D0D"/>
                </a:solidFill>
                <a:latin typeface="Times New Roman" panose="02020603050405020304" pitchFamily="18" charset="0"/>
                <a:cs typeface="Times New Roman" panose="02020603050405020304" pitchFamily="18" charset="0"/>
              </a:rPr>
              <a:t>Admin Dashboard</a:t>
            </a:r>
            <a:endParaRPr lang="en-IN" b="1" dirty="0"/>
          </a:p>
        </p:txBody>
      </p:sp>
      <p:sp>
        <p:nvSpPr>
          <p:cNvPr id="11" name="TextBox 10">
            <a:extLst>
              <a:ext uri="{FF2B5EF4-FFF2-40B4-BE49-F238E27FC236}">
                <a16:creationId xmlns:a16="http://schemas.microsoft.com/office/drawing/2014/main" id="{A8C260E0-6CDB-2F5F-BFBE-8D37C999DF64}"/>
              </a:ext>
            </a:extLst>
          </p:cNvPr>
          <p:cNvSpPr txBox="1"/>
          <p:nvPr/>
        </p:nvSpPr>
        <p:spPr>
          <a:xfrm>
            <a:off x="2228850" y="7886343"/>
            <a:ext cx="14077950" cy="2400657"/>
          </a:xfrm>
          <a:prstGeom prst="rect">
            <a:avLst/>
          </a:prstGeom>
          <a:noFill/>
        </p:spPr>
        <p:txBody>
          <a:bodyPr wrap="square">
            <a:spAutoFit/>
          </a:bodyPr>
          <a:lstStyle/>
          <a:p>
            <a:pPr algn="just">
              <a:buNone/>
            </a:pPr>
            <a:r>
              <a:rPr lang="en-US" sz="3000" b="0" i="0" dirty="0">
                <a:solidFill>
                  <a:srgbClr val="0D0D0D"/>
                </a:solidFill>
                <a:effectLst/>
                <a:latin typeface="Times New Roman" panose="02020603050405020304" pitchFamily="18" charset="0"/>
                <a:cs typeface="Times New Roman" panose="02020603050405020304" pitchFamily="18" charset="0"/>
              </a:rPr>
              <a:t>This module provides an interface for administrators to monitor system activities. It displays event statistics and user participation using charts and reports. It helps in managing events efficiently and making informed decisions.</a:t>
            </a:r>
          </a:p>
          <a:p>
            <a:pPr algn="just">
              <a:buNone/>
            </a:pPr>
            <a:r>
              <a:rPr lang="en-US" sz="3000" dirty="0">
                <a:latin typeface="Times New Roman" panose="02020603050405020304" pitchFamily="18" charset="0"/>
                <a:cs typeface="Times New Roman" panose="02020603050405020304" pitchFamily="18" charset="0"/>
              </a:rPr>
              <a:t/>
            </a:r>
            <a:br>
              <a:rPr lang="en-US" sz="3000" dirty="0">
                <a:latin typeface="Times New Roman" panose="02020603050405020304" pitchFamily="18" charset="0"/>
                <a:cs typeface="Times New Roman" panose="02020603050405020304" pitchFamily="18" charset="0"/>
              </a:rPr>
            </a:b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0948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375345-0EB0-7DE5-C3D8-C65C14A8DEF3}"/>
              </a:ext>
            </a:extLst>
          </p:cNvPr>
          <p:cNvSpPr txBox="1"/>
          <p:nvPr/>
        </p:nvSpPr>
        <p:spPr>
          <a:xfrm>
            <a:off x="3048000" y="342900"/>
            <a:ext cx="12192000" cy="861774"/>
          </a:xfrm>
          <a:prstGeom prst="rect">
            <a:avLst/>
          </a:prstGeom>
          <a:noFill/>
        </p:spPr>
        <p:txBody>
          <a:bodyPr wrap="square">
            <a:spAutoFit/>
          </a:bodyPr>
          <a:lstStyle/>
          <a:p>
            <a:pPr algn="ctr"/>
            <a:r>
              <a:rPr lang="en-US" sz="5000" b="1" dirty="0">
                <a:solidFill>
                  <a:srgbClr val="0033CC"/>
                </a:solidFill>
                <a:latin typeface="Times New Roman" panose="02020603050405020304" pitchFamily="18" charset="0"/>
                <a:cs typeface="Times New Roman" panose="02020603050405020304" pitchFamily="18" charset="0"/>
              </a:rPr>
              <a:t>IMPLEMENTATION SCREENSHOTS</a:t>
            </a:r>
            <a:endParaRPr lang="en-IN" sz="5000" b="1" dirty="0">
              <a:solidFill>
                <a:srgbClr val="0033CC"/>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C85A1CE-7570-CBBF-91E9-4FA050DB17CB}"/>
              </a:ext>
            </a:extLst>
          </p:cNvPr>
          <p:cNvSpPr txBox="1"/>
          <p:nvPr/>
        </p:nvSpPr>
        <p:spPr>
          <a:xfrm>
            <a:off x="1828800" y="1790700"/>
            <a:ext cx="9144000" cy="553998"/>
          </a:xfrm>
          <a:prstGeom prst="rect">
            <a:avLst/>
          </a:prstGeom>
          <a:noFill/>
        </p:spPr>
        <p:txBody>
          <a:bodyPr wrap="square">
            <a:spAutoFit/>
          </a:bodyPr>
          <a:lstStyle/>
          <a:p>
            <a:pPr marL="457200" indent="-457200">
              <a:buFontTx/>
              <a:buChar char="-"/>
            </a:pPr>
            <a:r>
              <a:rPr lang="en-US" sz="3000" b="1" dirty="0">
                <a:latin typeface="Times New Roman" panose="02020603050405020304" pitchFamily="18" charset="0"/>
                <a:cs typeface="Times New Roman" panose="02020603050405020304" pitchFamily="18" charset="0"/>
              </a:rPr>
              <a:t>Database  Screenshot</a:t>
            </a:r>
          </a:p>
        </p:txBody>
      </p:sp>
      <p:pic>
        <p:nvPicPr>
          <p:cNvPr id="7" name="Picture 6">
            <a:extLst>
              <a:ext uri="{FF2B5EF4-FFF2-40B4-BE49-F238E27FC236}">
                <a16:creationId xmlns:a16="http://schemas.microsoft.com/office/drawing/2014/main" id="{EE688C59-4AED-988C-0561-A33744E33FD0}"/>
              </a:ext>
            </a:extLst>
          </p:cNvPr>
          <p:cNvPicPr>
            <a:picLocks noChangeAspect="1"/>
          </p:cNvPicPr>
          <p:nvPr/>
        </p:nvPicPr>
        <p:blipFill>
          <a:blip r:embed="rId2"/>
          <a:stretch>
            <a:fillRect/>
          </a:stretch>
        </p:blipFill>
        <p:spPr>
          <a:xfrm>
            <a:off x="3200400" y="2781300"/>
            <a:ext cx="11497737" cy="5410700"/>
          </a:xfrm>
          <a:prstGeom prst="rect">
            <a:avLst/>
          </a:prstGeom>
        </p:spPr>
      </p:pic>
      <p:sp>
        <p:nvSpPr>
          <p:cNvPr id="9" name="TextBox 8">
            <a:extLst>
              <a:ext uri="{FF2B5EF4-FFF2-40B4-BE49-F238E27FC236}">
                <a16:creationId xmlns:a16="http://schemas.microsoft.com/office/drawing/2014/main" id="{D9FE1973-DE41-25F2-053C-56E044D55796}"/>
              </a:ext>
            </a:extLst>
          </p:cNvPr>
          <p:cNvSpPr txBox="1"/>
          <p:nvPr/>
        </p:nvSpPr>
        <p:spPr>
          <a:xfrm>
            <a:off x="7620000" y="8666702"/>
            <a:ext cx="9144000" cy="369332"/>
          </a:xfrm>
          <a:prstGeom prst="rect">
            <a:avLst/>
          </a:prstGeom>
          <a:noFill/>
        </p:spPr>
        <p:txBody>
          <a:bodyPr wrap="square">
            <a:spAutoFit/>
          </a:bodyPr>
          <a:lstStyle/>
          <a:p>
            <a:r>
              <a:rPr lang="en-IN" b="1" i="0" dirty="0">
                <a:solidFill>
                  <a:srgbClr val="0D0D0D"/>
                </a:solidFill>
                <a:effectLst/>
                <a:latin typeface="-apple-system-body"/>
              </a:rPr>
              <a:t>Fig- 14: </a:t>
            </a:r>
            <a:r>
              <a:rPr lang="en-US" b="1" dirty="0">
                <a:latin typeface="Times New Roman" panose="02020603050405020304" pitchFamily="18" charset="0"/>
                <a:cs typeface="Times New Roman" panose="02020603050405020304" pitchFamily="18" charset="0"/>
              </a:rPr>
              <a:t>Database Page</a:t>
            </a:r>
            <a:endParaRPr lang="en-IN" b="1" dirty="0"/>
          </a:p>
        </p:txBody>
      </p:sp>
    </p:spTree>
    <p:extLst>
      <p:ext uri="{BB962C8B-B14F-4D97-AF65-F5344CB8AC3E}">
        <p14:creationId xmlns:p14="http://schemas.microsoft.com/office/powerpoint/2010/main" val="27244892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4" name="Rectangle 3">
            <a:extLst>
              <a:ext uri="{FF2B5EF4-FFF2-40B4-BE49-F238E27FC236}">
                <a16:creationId xmlns:a16="http://schemas.microsoft.com/office/drawing/2014/main" id="{79CCD440-BE08-C944-5703-F0BDA1E1B419}"/>
              </a:ext>
            </a:extLst>
          </p:cNvPr>
          <p:cNvSpPr>
            <a:spLocks noChangeArrowheads="1"/>
          </p:cNvSpPr>
          <p:nvPr/>
        </p:nvSpPr>
        <p:spPr bwMode="auto">
          <a:xfrm>
            <a:off x="2286000" y="1442328"/>
            <a:ext cx="10287000" cy="495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ADVANTAGES: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Provides a user-friendly and attractive interface</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Reduces manual effort through automation</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Ensures secure authentication and data handling</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Enables easy online event registration</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Generates PDF tickets automatically</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Offers real-time data tracking and analytics</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Supports centralized data management</a:t>
            </a: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Improves accuracy and reduces errors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8A0DBE6B-A4D7-9F3E-4CFC-88CD42181700}"/>
              </a:ext>
            </a:extLst>
          </p:cNvPr>
          <p:cNvSpPr txBox="1"/>
          <p:nvPr/>
        </p:nvSpPr>
        <p:spPr>
          <a:xfrm>
            <a:off x="2423384" y="6272820"/>
            <a:ext cx="10683015" cy="2862322"/>
          </a:xfrm>
          <a:prstGeom prst="rect">
            <a:avLst/>
          </a:prstGeom>
          <a:noFill/>
        </p:spPr>
        <p:txBody>
          <a:bodyPr wrap="square">
            <a:spAutoFit/>
          </a:bodyPr>
          <a:lstStyle/>
          <a:p>
            <a:pPr algn="l"/>
            <a:r>
              <a:rPr lang="en-US" sz="3000" b="1" i="0" dirty="0">
                <a:solidFill>
                  <a:srgbClr val="0D0D0D"/>
                </a:solidFill>
                <a:effectLst/>
                <a:latin typeface="Times New Roman" panose="02020603050405020304" pitchFamily="18" charset="0"/>
                <a:cs typeface="Times New Roman" panose="02020603050405020304" pitchFamily="18" charset="0"/>
              </a:rPr>
              <a:t>Limitations :</a:t>
            </a:r>
          </a:p>
          <a:p>
            <a:pPr marL="457200" indent="-457200" algn="l">
              <a:buFont typeface="Arial" panose="020B0604020202020204" pitchFamily="34" charset="0"/>
              <a:buChar char="•"/>
            </a:pPr>
            <a:r>
              <a:rPr lang="en-US" sz="3000" i="0" dirty="0">
                <a:solidFill>
                  <a:srgbClr val="0D0D0D"/>
                </a:solidFill>
                <a:effectLst/>
                <a:latin typeface="Times New Roman" panose="02020603050405020304" pitchFamily="18" charset="0"/>
                <a:cs typeface="Times New Roman" panose="02020603050405020304" pitchFamily="18" charset="0"/>
              </a:rPr>
              <a:t>Requires internet connectivity to access the system</a:t>
            </a:r>
          </a:p>
          <a:p>
            <a:pPr marL="457200" indent="-457200" algn="l">
              <a:buFont typeface="Arial" panose="020B0604020202020204" pitchFamily="34" charset="0"/>
              <a:buChar char="•"/>
            </a:pPr>
            <a:r>
              <a:rPr lang="en-US" sz="3000" i="0" dirty="0">
                <a:solidFill>
                  <a:srgbClr val="0D0D0D"/>
                </a:solidFill>
                <a:effectLst/>
                <a:latin typeface="Times New Roman" panose="02020603050405020304" pitchFamily="18" charset="0"/>
                <a:cs typeface="Times New Roman" panose="02020603050405020304" pitchFamily="18" charset="0"/>
              </a:rPr>
              <a:t>Payment process is currently simulated (not real gateway)</a:t>
            </a:r>
          </a:p>
          <a:p>
            <a:pPr marL="457200" indent="-457200" algn="l">
              <a:buFont typeface="Arial" panose="020B0604020202020204" pitchFamily="34" charset="0"/>
              <a:buChar char="•"/>
            </a:pPr>
            <a:r>
              <a:rPr lang="en-US" sz="3000" i="0" dirty="0">
                <a:solidFill>
                  <a:srgbClr val="0D0D0D"/>
                </a:solidFill>
                <a:effectLst/>
                <a:latin typeface="Times New Roman" panose="02020603050405020304" pitchFamily="18" charset="0"/>
                <a:cs typeface="Times New Roman" panose="02020603050405020304" pitchFamily="18" charset="0"/>
              </a:rPr>
              <a:t>Limited to web platform (no mobile app yet)</a:t>
            </a:r>
          </a:p>
          <a:p>
            <a:pPr marL="457200" indent="-457200" algn="l">
              <a:buFont typeface="Arial" panose="020B0604020202020204" pitchFamily="34" charset="0"/>
              <a:buChar char="•"/>
            </a:pPr>
            <a:r>
              <a:rPr lang="en-US" sz="3000" i="0" dirty="0">
                <a:solidFill>
                  <a:srgbClr val="0D0D0D"/>
                </a:solidFill>
                <a:effectLst/>
                <a:latin typeface="Times New Roman" panose="02020603050405020304" pitchFamily="18" charset="0"/>
                <a:cs typeface="Times New Roman" panose="02020603050405020304" pitchFamily="18" charset="0"/>
              </a:rPr>
              <a:t>Depends on server and database availability</a:t>
            </a:r>
          </a:p>
          <a:p>
            <a:pPr marL="457200" indent="-457200" algn="l">
              <a:buFont typeface="Arial" panose="020B0604020202020204" pitchFamily="34" charset="0"/>
              <a:buChar char="•"/>
            </a:pPr>
            <a:r>
              <a:rPr lang="en-US" sz="3000" i="0" dirty="0">
                <a:solidFill>
                  <a:srgbClr val="0D0D0D"/>
                </a:solidFill>
                <a:effectLst/>
                <a:latin typeface="Times New Roman" panose="02020603050405020304" pitchFamily="18" charset="0"/>
                <a:cs typeface="Times New Roman" panose="02020603050405020304" pitchFamily="18" charset="0"/>
              </a:rPr>
              <a:t>No real-time notifications (SMS/Email) implemented</a:t>
            </a:r>
          </a:p>
        </p:txBody>
      </p:sp>
    </p:spTree>
    <p:extLst>
      <p:ext uri="{BB962C8B-B14F-4D97-AF65-F5344CB8AC3E}">
        <p14:creationId xmlns:p14="http://schemas.microsoft.com/office/powerpoint/2010/main" val="1838976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865</TotalTime>
  <Words>994</Words>
  <Application>Microsoft Office PowerPoint</Application>
  <PresentationFormat>Custom</PresentationFormat>
  <Paragraphs>308</Paragraphs>
  <Slides>23</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-apple-system-body</vt:lpstr>
      <vt:lpstr>Arial</vt:lpstr>
      <vt:lpstr>Gotham Bold Italics</vt:lpstr>
      <vt:lpstr>Gotham</vt:lpstr>
      <vt:lpstr>Times New Roman</vt:lpstr>
      <vt:lpstr>Cambria</vt:lpstr>
      <vt:lpstr>Wingdings</vt:lpstr>
      <vt:lpstr>Calibri</vt:lpstr>
      <vt:lpstr>Bookman Old Style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mahesh mahesh</dc:creator>
  <cp:lastModifiedBy>DELL</cp:lastModifiedBy>
  <cp:revision>17</cp:revision>
  <dcterms:created xsi:type="dcterms:W3CDTF">2006-08-16T00:00:00Z</dcterms:created>
  <dcterms:modified xsi:type="dcterms:W3CDTF">2026-05-06T03:41:14Z</dcterms:modified>
  <dc:identifier>DAHCaYqJ9OU</dc:identifier>
</cp:coreProperties>
</file>